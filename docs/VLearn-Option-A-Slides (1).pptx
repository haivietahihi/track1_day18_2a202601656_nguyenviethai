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9" r:id="rId8"/>
    <p:sldId id="268" r:id="rId9"/>
    <p:sldId id="262" r:id="rId10"/>
    <p:sldId id="263" r:id="rId11"/>
    <p:sldId id="264" r:id="rId12"/>
    <p:sldId id="265" r:id="rId13"/>
    <p:sldId id="266" r:id="rId14"/>
    <p:sldId id="267"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8"/>
    <p:restoredTop sz="94610"/>
  </p:normalViewPr>
  <p:slideViewPr>
    <p:cSldViewPr snapToGrid="0" snapToObjects="1">
      <p:cViewPr varScale="1">
        <p:scale>
          <a:sx n="91" d="100"/>
          <a:sy n="91" d="100"/>
        </p:scale>
        <p:origin x="192" y="9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79551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4F115-789F-617B-AAC8-9C6E914B5E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A34911-7527-967F-B1AE-7F9700F4C9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6ADE73-3520-1BCA-E2BE-6DBB8AC927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B5A66E-4F12-68A4-EDAA-B03A0405E7A8}"/>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7648877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EAA2F-9600-932D-26C0-55CC1AAE1A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86E338-AE56-8DA3-4EAC-47243EAB2F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DAF6C4-274E-985B-3E89-9D22F58BC2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AAE071-4439-4674-70F6-D42E89AF5DCF}"/>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8197993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600000">
            <a:off x="822960" y="320040"/>
            <a:ext cx="1188720" cy="365760"/>
          </a:xfrm>
          <a:prstGeom prst="rect">
            <a:avLst/>
          </a:prstGeom>
          <a:solidFill>
            <a:srgbClr val="FFE28A">
              <a:alpha val="70000"/>
            </a:srgbClr>
          </a:solidFill>
          <a:ln/>
        </p:spPr>
      </p:sp>
      <p:sp>
        <p:nvSpPr>
          <p:cNvPr id="3" name="Shape 1"/>
          <p:cNvSpPr/>
          <p:nvPr/>
        </p:nvSpPr>
        <p:spPr>
          <a:xfrm rot="480000">
            <a:off x="10149840" y="457200"/>
            <a:ext cx="1188720" cy="365760"/>
          </a:xfrm>
          <a:prstGeom prst="rect">
            <a:avLst/>
          </a:prstGeom>
          <a:solidFill>
            <a:srgbClr val="2AA39D">
              <a:alpha val="70000"/>
            </a:srgbClr>
          </a:solidFill>
          <a:ln/>
        </p:spPr>
      </p:sp>
      <p:sp>
        <p:nvSpPr>
          <p:cNvPr id="4" name="Shape 2"/>
          <p:cNvSpPr/>
          <p:nvPr/>
        </p:nvSpPr>
        <p:spPr>
          <a:xfrm rot="420000">
            <a:off x="914400" y="6126480"/>
            <a:ext cx="1188720" cy="365760"/>
          </a:xfrm>
          <a:prstGeom prst="rect">
            <a:avLst/>
          </a:prstGeom>
          <a:solidFill>
            <a:srgbClr val="5B9BD5">
              <a:alpha val="70000"/>
            </a:srgbClr>
          </a:solidFill>
          <a:ln/>
        </p:spPr>
      </p:sp>
      <p:sp>
        <p:nvSpPr>
          <p:cNvPr id="5" name="Shape 3"/>
          <p:cNvSpPr/>
          <p:nvPr/>
        </p:nvSpPr>
        <p:spPr>
          <a:xfrm rot="-540000">
            <a:off x="9966960" y="6172200"/>
            <a:ext cx="1188720" cy="365760"/>
          </a:xfrm>
          <a:prstGeom prst="rect">
            <a:avLst/>
          </a:prstGeom>
          <a:solidFill>
            <a:srgbClr val="B9789E">
              <a:alpha val="70000"/>
            </a:srgbClr>
          </a:solidFill>
          <a:ln/>
        </p:spPr>
      </p:sp>
      <p:sp>
        <p:nvSpPr>
          <p:cNvPr id="6" name="Shape 4"/>
          <p:cNvSpPr/>
          <p:nvPr/>
        </p:nvSpPr>
        <p:spPr>
          <a:xfrm rot="-60000">
            <a:off x="1371600" y="1965960"/>
            <a:ext cx="9418320" cy="2331720"/>
          </a:xfrm>
          <a:prstGeom prst="roundRect">
            <a:avLst>
              <a:gd name="adj" fmla="val 7059"/>
            </a:avLst>
          </a:prstGeom>
          <a:solidFill>
            <a:srgbClr val="FFE28A"/>
          </a:solidFill>
          <a:ln w="38100">
            <a:solidFill>
              <a:srgbClr val="2B2B2B"/>
            </a:solidFill>
            <a:prstDash val="solid"/>
          </a:ln>
          <a:effectLst>
            <a:outerShdw blurRad="101600" dist="88900" dir="2700000" algn="bl" rotWithShape="0">
              <a:srgbClr val="2B2B2B">
                <a:alpha val="85000"/>
              </a:srgbClr>
            </a:outerShdw>
          </a:effectLst>
        </p:spPr>
      </p:sp>
      <p:sp>
        <p:nvSpPr>
          <p:cNvPr id="7" name="Text 5"/>
          <p:cNvSpPr/>
          <p:nvPr/>
        </p:nvSpPr>
        <p:spPr>
          <a:xfrm rot="-60000">
            <a:off x="1371600" y="2148840"/>
            <a:ext cx="9418320" cy="1234440"/>
          </a:xfrm>
          <a:prstGeom prst="rect">
            <a:avLst/>
          </a:prstGeom>
          <a:noFill/>
          <a:ln/>
        </p:spPr>
        <p:txBody>
          <a:bodyPr wrap="square" rtlCol="0" anchor="ctr"/>
          <a:lstStyle/>
          <a:p>
            <a:pPr marL="0" indent="0" algn="ctr">
              <a:buNone/>
            </a:pPr>
            <a:r>
              <a:rPr lang="en-US" sz="7200" b="1" dirty="0">
                <a:solidFill>
                  <a:srgbClr val="2B2B2B"/>
                </a:solidFill>
                <a:latin typeface="Calibri" pitchFamily="34" charset="0"/>
                <a:ea typeface="Calibri" pitchFamily="34" charset="-122"/>
                <a:cs typeface="Calibri" pitchFamily="34" charset="-120"/>
              </a:rPr>
              <a:t>VLearn</a:t>
            </a:r>
            <a:endParaRPr lang="en-US" sz="7200" dirty="0"/>
          </a:p>
        </p:txBody>
      </p:sp>
      <p:sp>
        <p:nvSpPr>
          <p:cNvPr id="8" name="Text 6"/>
          <p:cNvSpPr/>
          <p:nvPr/>
        </p:nvSpPr>
        <p:spPr>
          <a:xfrm rot="-60000">
            <a:off x="1371600" y="3337560"/>
            <a:ext cx="9418320" cy="640080"/>
          </a:xfrm>
          <a:prstGeom prst="rect">
            <a:avLst/>
          </a:prstGeom>
          <a:noFill/>
          <a:ln/>
        </p:spPr>
        <p:txBody>
          <a:bodyPr wrap="square" rtlCol="0" anchor="ctr"/>
          <a:lstStyle/>
          <a:p>
            <a:pPr marL="0" indent="0" algn="ctr">
              <a:buNone/>
            </a:pPr>
            <a:r>
              <a:rPr lang="en-US" sz="1800" b="1" i="1" dirty="0">
                <a:solidFill>
                  <a:srgbClr val="E14C36"/>
                </a:solidFill>
                <a:latin typeface="Calibri" pitchFamily="34" charset="0"/>
                <a:ea typeface="Calibri" pitchFamily="34" charset="-122"/>
                <a:cs typeface="Calibri" pitchFamily="34" charset="-120"/>
              </a:rPr>
              <a:t>AI Tutor · Diagnostic Refresher — Day 18</a:t>
            </a:r>
            <a:endParaRPr lang="en-US" sz="1800" dirty="0"/>
          </a:p>
        </p:txBody>
      </p:sp>
      <p:sp>
        <p:nvSpPr>
          <p:cNvPr id="9" name="Shape 7"/>
          <p:cNvSpPr/>
          <p:nvPr/>
        </p:nvSpPr>
        <p:spPr>
          <a:xfrm rot="90000">
            <a:off x="4480560" y="4617720"/>
            <a:ext cx="3200400" cy="457200"/>
          </a:xfrm>
          <a:prstGeom prst="roundRect">
            <a:avLst>
              <a:gd name="adj" fmla="val 50000"/>
            </a:avLst>
          </a:prstGeom>
          <a:solidFill>
            <a:srgbClr val="3FA34D"/>
          </a:solidFill>
          <a:ln w="25400">
            <a:solidFill>
              <a:srgbClr val="2B2B2B"/>
            </a:solidFill>
            <a:prstDash val="solid"/>
          </a:ln>
        </p:spPr>
      </p:sp>
      <p:sp>
        <p:nvSpPr>
          <p:cNvPr id="10" name="Text 8"/>
          <p:cNvSpPr/>
          <p:nvPr/>
        </p:nvSpPr>
        <p:spPr>
          <a:xfrm rot="90000">
            <a:off x="4480560" y="4617720"/>
            <a:ext cx="320040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GIẢI PHÁP ĐƯỢC CHỌN · OPTION A</a:t>
            </a:r>
            <a:endParaRPr lang="en-US" sz="1300" dirty="0"/>
          </a:p>
        </p:txBody>
      </p:sp>
      <p:sp>
        <p:nvSpPr>
          <p:cNvPr id="11" name="Text 9"/>
          <p:cNvSpPr/>
          <p:nvPr/>
        </p:nvSpPr>
        <p:spPr>
          <a:xfrm>
            <a:off x="1371600" y="5440680"/>
            <a:ext cx="9418320" cy="1051560"/>
          </a:xfrm>
          <a:prstGeom prst="rect">
            <a:avLst/>
          </a:prstGeom>
          <a:noFill/>
          <a:ln/>
        </p:spPr>
        <p:txBody>
          <a:bodyPr wrap="square" rtlCol="0" anchor="ctr"/>
          <a:lstStyle/>
          <a:p>
            <a:pPr marL="0" indent="0" algn="ctr">
              <a:lnSpc>
                <a:spcPct val="115000"/>
              </a:lnSpc>
              <a:buNone/>
            </a:pPr>
            <a:r>
              <a:rPr lang="en-US" sz="1350" b="1" dirty="0">
                <a:solidFill>
                  <a:srgbClr val="2B2B2B"/>
                </a:solidFill>
                <a:latin typeface="Calibri" pitchFamily="34" charset="0"/>
                <a:ea typeface="Calibri" pitchFamily="34" charset="-122"/>
                <a:cs typeface="Calibri" pitchFamily="34" charset="-120"/>
              </a:rPr>
              <a:t>Nhóm 333</a:t>
            </a:r>
            <a:endParaRPr lang="en-US" sz="1350" dirty="0"/>
          </a:p>
          <a:p>
            <a:pPr marL="0" indent="0" algn="ctr">
              <a:lnSpc>
                <a:spcPct val="115000"/>
              </a:lnSpc>
              <a:buNone/>
            </a:pPr>
            <a:r>
              <a:rPr lang="en-US" sz="1350" dirty="0">
                <a:solidFill>
                  <a:srgbClr val="8A8A8A"/>
                </a:solidFill>
                <a:latin typeface="Calibri" pitchFamily="34" charset="0"/>
                <a:ea typeface="Calibri" pitchFamily="34" charset="-122"/>
                <a:cs typeface="Calibri" pitchFamily="34" charset="-120"/>
              </a:rPr>
              <a:t>Nguyễn Hoàng Minh · 2A202601764</a:t>
            </a:r>
            <a:endParaRPr lang="en-US" sz="1350" dirty="0"/>
          </a:p>
          <a:p>
            <a:pPr marL="0" indent="0" algn="ctr">
              <a:lnSpc>
                <a:spcPct val="115000"/>
              </a:lnSpc>
              <a:buNone/>
            </a:pPr>
            <a:r>
              <a:rPr lang="en-US" sz="1350" dirty="0">
                <a:solidFill>
                  <a:srgbClr val="8A8A8A"/>
                </a:solidFill>
                <a:latin typeface="Calibri" pitchFamily="34" charset="0"/>
                <a:ea typeface="Calibri" pitchFamily="34" charset="-122"/>
                <a:cs typeface="Calibri" pitchFamily="34" charset="-120"/>
              </a:rPr>
              <a:t>Nguyễn Việt Hải · 2A202601656</a:t>
            </a:r>
            <a:endParaRPr lang="en-US" sz="1350" dirty="0"/>
          </a:p>
          <a:p>
            <a:pPr marL="0" indent="0" algn="ctr">
              <a:lnSpc>
                <a:spcPct val="115000"/>
              </a:lnSpc>
              <a:buNone/>
            </a:pPr>
            <a:r>
              <a:rPr lang="en-US" sz="1350" dirty="0">
                <a:solidFill>
                  <a:srgbClr val="8A8A8A"/>
                </a:solidFill>
                <a:latin typeface="Calibri" pitchFamily="34" charset="0"/>
                <a:ea typeface="Calibri" pitchFamily="34" charset="-122"/>
                <a:cs typeface="Calibri" pitchFamily="34" charset="-120"/>
              </a:rPr>
              <a:t>Trịnh Hải Đăng · 2A202601602</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20000">
            <a:off x="502920" y="411480"/>
            <a:ext cx="3566160" cy="457200"/>
          </a:xfrm>
          <a:prstGeom prst="roundRect">
            <a:avLst>
              <a:gd name="adj" fmla="val 50000"/>
            </a:avLst>
          </a:prstGeom>
          <a:solidFill>
            <a:srgbClr val="FF6B54"/>
          </a:solidFill>
          <a:ln w="25400">
            <a:solidFill>
              <a:srgbClr val="2B2B2B"/>
            </a:solidFill>
            <a:prstDash val="solid"/>
          </a:ln>
          <a:effectLst>
            <a:outerShdw blurRad="101600" dist="50800" dir="2700000" algn="bl" rotWithShape="0">
              <a:srgbClr val="2B2B2B">
                <a:alpha val="80000"/>
              </a:srgbClr>
            </a:outerShdw>
          </a:effectLst>
        </p:spPr>
      </p:sp>
      <p:sp>
        <p:nvSpPr>
          <p:cNvPr id="3" name="Text 1"/>
          <p:cNvSpPr/>
          <p:nvPr/>
        </p:nvSpPr>
        <p:spPr>
          <a:xfrm rot="-120000">
            <a:off x="502920" y="411480"/>
            <a:ext cx="3566160" cy="4572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01  ·  VẤN ĐỀ TÌM THẤY</a:t>
            </a:r>
            <a:endParaRPr lang="en-US" sz="1150" dirty="0"/>
          </a:p>
        </p:txBody>
      </p:sp>
      <p:sp>
        <p:nvSpPr>
          <p:cNvPr id="4" name="Text 2"/>
          <p:cNvSpPr/>
          <p:nvPr/>
        </p:nvSpPr>
        <p:spPr>
          <a:xfrm>
            <a:off x="502920" y="960120"/>
            <a:ext cx="10789920" cy="1371600"/>
          </a:xfrm>
          <a:prstGeom prst="rect">
            <a:avLst/>
          </a:prstGeom>
          <a:noFill/>
          <a:ln/>
        </p:spPr>
        <p:txBody>
          <a:bodyPr wrap="square" rtlCol="0" anchor="t"/>
          <a:lstStyle/>
          <a:p>
            <a:pPr marL="0" indent="0" algn="l">
              <a:buNone/>
            </a:pPr>
            <a:r>
              <a:rPr lang="en-US" sz="2700" b="1" dirty="0">
                <a:solidFill>
                  <a:srgbClr val="2B2B2B"/>
                </a:solidFill>
                <a:latin typeface="Calibri" pitchFamily="34" charset="0"/>
                <a:ea typeface="Calibri" pitchFamily="34" charset="-122"/>
                <a:cs typeface="Calibri" pitchFamily="34" charset="-120"/>
              </a:rPr>
              <a:t>Người học bị kẹt giữa buổi lab —</a:t>
            </a:r>
            <a:endParaRPr lang="en-US" sz="2700" dirty="0"/>
          </a:p>
          <a:p>
            <a:pPr marL="0" indent="0" algn="l">
              <a:buNone/>
            </a:pPr>
            <a:r>
              <a:rPr lang="en-US" sz="2700" b="1" dirty="0">
                <a:solidFill>
                  <a:srgbClr val="2B2B2B"/>
                </a:solidFill>
                <a:latin typeface="Calibri" pitchFamily="34" charset="0"/>
                <a:ea typeface="Calibri" pitchFamily="34" charset="-122"/>
                <a:cs typeface="Calibri" pitchFamily="34" charset="-120"/>
              </a:rPr>
              <a:t>và không biết câu trả lời có tin được không</a:t>
            </a:r>
            <a:endParaRPr lang="en-US" sz="2700" dirty="0"/>
          </a:p>
        </p:txBody>
      </p:sp>
      <p:sp>
        <p:nvSpPr>
          <p:cNvPr id="5" name="Shape 3"/>
          <p:cNvSpPr/>
          <p:nvPr/>
        </p:nvSpPr>
        <p:spPr>
          <a:xfrm rot="-30000">
            <a:off x="822960" y="2606040"/>
            <a:ext cx="10515600" cy="1737360"/>
          </a:xfrm>
          <a:prstGeom prst="roundRect">
            <a:avLst>
              <a:gd name="adj" fmla="val 6316"/>
            </a:avLst>
          </a:prstGeom>
          <a:solidFill>
            <a:srgbClr val="FFF3D2"/>
          </a:solidFill>
          <a:ln w="28575">
            <a:solidFill>
              <a:srgbClr val="2B2B2B"/>
            </a:solidFill>
            <a:prstDash val="solid"/>
          </a:ln>
          <a:effectLst>
            <a:outerShdw blurRad="101600" dist="63500" dir="2700000" algn="bl" rotWithShape="0">
              <a:srgbClr val="2B2B2B">
                <a:alpha val="85000"/>
              </a:srgbClr>
            </a:outerShdw>
          </a:effectLst>
        </p:spPr>
      </p:sp>
      <p:sp>
        <p:nvSpPr>
          <p:cNvPr id="6" name="Text 4"/>
          <p:cNvSpPr/>
          <p:nvPr/>
        </p:nvSpPr>
        <p:spPr>
          <a:xfrm rot="-30000">
            <a:off x="1188720" y="2788920"/>
            <a:ext cx="9784080" cy="1371600"/>
          </a:xfrm>
          <a:prstGeom prst="rect">
            <a:avLst/>
          </a:prstGeom>
          <a:noFill/>
          <a:ln/>
        </p:spPr>
        <p:txBody>
          <a:bodyPr wrap="square" rtlCol="0" anchor="ctr"/>
          <a:lstStyle/>
          <a:p>
            <a:pPr marL="0" indent="0" algn="l">
              <a:lnSpc>
                <a:spcPct val="120000"/>
              </a:lnSpc>
              <a:buNone/>
            </a:pPr>
            <a:r>
              <a:rPr lang="en-US" sz="1800" b="1" i="1" dirty="0">
                <a:solidFill>
                  <a:srgbClr val="2B2B2B"/>
                </a:solidFill>
                <a:latin typeface="Calibri" pitchFamily="34" charset="0"/>
                <a:ea typeface="Calibri" pitchFamily="34" charset="-122"/>
                <a:cs typeface="Calibri" pitchFamily="34" charset="-120"/>
              </a:rPr>
              <a:t>Khi đang học trực tiếp trong buổi lab mà gặp một khái niệm khó hoặc bị lỗi thao tác, người học rất khó tìm được một câu trả lời đáng tin </a:t>
            </a:r>
            <a:r>
              <a:rPr lang="en-US" sz="1800" b="1" i="1" dirty="0" err="1">
                <a:solidFill>
                  <a:srgbClr val="2B2B2B"/>
                </a:solidFill>
                <a:latin typeface="Calibri" pitchFamily="34" charset="0"/>
                <a:ea typeface="Calibri" pitchFamily="34" charset="-122"/>
                <a:cs typeface="Calibri" pitchFamily="34" charset="-120"/>
              </a:rPr>
              <a:t>để</a:t>
            </a:r>
            <a:r>
              <a:rPr lang="en-US" sz="1800" b="1" i="1" dirty="0">
                <a:solidFill>
                  <a:srgbClr val="2B2B2B"/>
                </a:solidFill>
                <a:latin typeface="Calibri" pitchFamily="34" charset="0"/>
                <a:ea typeface="Calibri" pitchFamily="34" charset="-122"/>
                <a:cs typeface="Calibri" pitchFamily="34" charset="-120"/>
              </a:rPr>
              <a:t> </a:t>
            </a:r>
            <a:r>
              <a:rPr lang="en-US" sz="1800" b="1" i="1" dirty="0" err="1">
                <a:solidFill>
                  <a:srgbClr val="2B2B2B"/>
                </a:solidFill>
                <a:latin typeface="Calibri" pitchFamily="34" charset="0"/>
                <a:ea typeface="Calibri" pitchFamily="34" charset="-122"/>
                <a:cs typeface="Calibri" pitchFamily="34" charset="-120"/>
              </a:rPr>
              <a:t>tiếp</a:t>
            </a:r>
            <a:r>
              <a:rPr lang="en-US" sz="1800" b="1" i="1" dirty="0">
                <a:solidFill>
                  <a:srgbClr val="2B2B2B"/>
                </a:solidFill>
                <a:latin typeface="Calibri" pitchFamily="34" charset="0"/>
                <a:ea typeface="Calibri" pitchFamily="34" charset="-122"/>
                <a:cs typeface="Calibri" pitchFamily="34" charset="-120"/>
              </a:rPr>
              <a:t> </a:t>
            </a:r>
            <a:r>
              <a:rPr lang="en-US" sz="1800" b="1" i="1" dirty="0" err="1">
                <a:solidFill>
                  <a:srgbClr val="2B2B2B"/>
                </a:solidFill>
                <a:latin typeface="Calibri" pitchFamily="34" charset="0"/>
                <a:ea typeface="Calibri" pitchFamily="34" charset="-122"/>
                <a:cs typeface="Calibri" pitchFamily="34" charset="-120"/>
              </a:rPr>
              <a:t>tục</a:t>
            </a:r>
            <a:r>
              <a:rPr lang="en-US" sz="1800" b="1" i="1" dirty="0">
                <a:solidFill>
                  <a:srgbClr val="2B2B2B"/>
                </a:solidFill>
                <a:latin typeface="Calibri" pitchFamily="34" charset="0"/>
                <a:ea typeface="Calibri" pitchFamily="34" charset="-122"/>
                <a:cs typeface="Calibri" pitchFamily="34" charset="-120"/>
              </a:rPr>
              <a:t> </a:t>
            </a:r>
            <a:r>
              <a:rPr lang="en-US" sz="1800" b="1" i="1" dirty="0" err="1">
                <a:solidFill>
                  <a:srgbClr val="2B2B2B"/>
                </a:solidFill>
                <a:latin typeface="Calibri" pitchFamily="34" charset="0"/>
                <a:ea typeface="Calibri" pitchFamily="34" charset="-122"/>
                <a:cs typeface="Calibri" pitchFamily="34" charset="-120"/>
              </a:rPr>
              <a:t>học</a:t>
            </a:r>
            <a:r>
              <a:rPr lang="en-US" sz="1800" b="1" i="1" dirty="0">
                <a:solidFill>
                  <a:srgbClr val="2B2B2B"/>
                </a:solidFill>
                <a:latin typeface="Calibri" pitchFamily="34" charset="0"/>
                <a:ea typeface="Calibri" pitchFamily="34" charset="-122"/>
                <a:cs typeface="Calibri" pitchFamily="34" charset="-120"/>
              </a:rPr>
              <a:t> </a:t>
            </a:r>
            <a:r>
              <a:rPr lang="en-US" sz="1800" b="1" i="1" dirty="0" err="1">
                <a:solidFill>
                  <a:srgbClr val="2B2B2B"/>
                </a:solidFill>
                <a:latin typeface="Calibri" pitchFamily="34" charset="0"/>
                <a:ea typeface="Calibri" pitchFamily="34" charset="-122"/>
                <a:cs typeface="Calibri" pitchFamily="34" charset="-120"/>
              </a:rPr>
              <a:t>hoặc</a:t>
            </a:r>
            <a:r>
              <a:rPr lang="en-US" sz="1800" b="1" i="1" dirty="0">
                <a:solidFill>
                  <a:srgbClr val="2B2B2B"/>
                </a:solidFill>
                <a:latin typeface="Calibri" pitchFamily="34" charset="0"/>
                <a:ea typeface="Calibri" pitchFamily="34" charset="-122"/>
                <a:cs typeface="Calibri" pitchFamily="34" charset="-120"/>
              </a:rPr>
              <a:t> </a:t>
            </a:r>
            <a:r>
              <a:rPr lang="en-US" sz="1800" b="1" i="1" dirty="0" err="1">
                <a:solidFill>
                  <a:srgbClr val="2B2B2B"/>
                </a:solidFill>
                <a:latin typeface="Calibri" pitchFamily="34" charset="0"/>
                <a:ea typeface="Calibri" pitchFamily="34" charset="-122"/>
                <a:cs typeface="Calibri" pitchFamily="34" charset="-120"/>
              </a:rPr>
              <a:t>làm</a:t>
            </a:r>
            <a:r>
              <a:rPr lang="en-US" sz="1800" b="1" i="1" dirty="0">
                <a:solidFill>
                  <a:srgbClr val="2B2B2B"/>
                </a:solidFill>
                <a:latin typeface="Calibri" pitchFamily="34" charset="0"/>
                <a:ea typeface="Calibri" pitchFamily="34" charset="-122"/>
                <a:cs typeface="Calibri" pitchFamily="34" charset="-120"/>
              </a:rPr>
              <a:t> tiếp bài.</a:t>
            </a:r>
            <a:endParaRPr lang="en-US" sz="1800" dirty="0"/>
          </a:p>
        </p:txBody>
      </p:sp>
      <p:sp>
        <p:nvSpPr>
          <p:cNvPr id="7" name="Shape 5"/>
          <p:cNvSpPr/>
          <p:nvPr/>
        </p:nvSpPr>
        <p:spPr>
          <a:xfrm rot="-60000">
            <a:off x="822960" y="4709160"/>
            <a:ext cx="3337560" cy="1417320"/>
          </a:xfrm>
          <a:prstGeom prst="roundRect">
            <a:avLst>
              <a:gd name="adj" fmla="val 7742"/>
            </a:avLst>
          </a:prstGeom>
          <a:solidFill>
            <a:srgbClr val="FFFFFF"/>
          </a:solidFill>
          <a:ln w="28575">
            <a:solidFill>
              <a:srgbClr val="2B2B2B"/>
            </a:solidFill>
            <a:prstDash val="solid"/>
          </a:ln>
          <a:effectLst>
            <a:outerShdw blurRad="101600" dist="63500" dir="2700000" algn="bl" rotWithShape="0">
              <a:srgbClr val="2B2B2B">
                <a:alpha val="85000"/>
              </a:srgbClr>
            </a:outerShdw>
          </a:effectLst>
        </p:spPr>
      </p:sp>
      <p:sp>
        <p:nvSpPr>
          <p:cNvPr id="8" name="Shape 6"/>
          <p:cNvSpPr/>
          <p:nvPr/>
        </p:nvSpPr>
        <p:spPr>
          <a:xfrm rot="-60000">
            <a:off x="1051560" y="4937760"/>
            <a:ext cx="502920" cy="502920"/>
          </a:xfrm>
          <a:prstGeom prst="roundRect">
            <a:avLst>
              <a:gd name="adj" fmla="val 50909"/>
            </a:avLst>
          </a:prstGeom>
          <a:solidFill>
            <a:srgbClr val="FF6B54"/>
          </a:solidFill>
          <a:ln w="25400">
            <a:solidFill>
              <a:srgbClr val="2B2B2B"/>
            </a:solidFill>
            <a:prstDash val="solid"/>
          </a:ln>
        </p:spPr>
      </p:sp>
      <p:sp>
        <p:nvSpPr>
          <p:cNvPr id="9" name="Text 7"/>
          <p:cNvSpPr/>
          <p:nvPr/>
        </p:nvSpPr>
        <p:spPr>
          <a:xfrm rot="-60000">
            <a:off x="960120" y="5504688"/>
            <a:ext cx="3063240" cy="548640"/>
          </a:xfrm>
          <a:prstGeom prst="rect">
            <a:avLst/>
          </a:prstGeom>
          <a:noFill/>
          <a:ln/>
        </p:spPr>
        <p:txBody>
          <a:bodyPr wrap="square" rtlCol="0" anchor="t"/>
          <a:lstStyle/>
          <a:p>
            <a:pPr marL="0" indent="0" algn="ctr">
              <a:lnSpc>
                <a:spcPct val="105000"/>
              </a:lnSpc>
              <a:buNone/>
            </a:pPr>
            <a:r>
              <a:rPr lang="en-US" sz="1250" b="1" dirty="0">
                <a:solidFill>
                  <a:srgbClr val="2B2B2B"/>
                </a:solidFill>
                <a:latin typeface="Calibri" pitchFamily="34" charset="0"/>
                <a:ea typeface="Calibri" pitchFamily="34" charset="-122"/>
                <a:cs typeface="Calibri" pitchFamily="34" charset="-120"/>
              </a:rPr>
              <a:t>Hỏi người thật (coach)</a:t>
            </a:r>
            <a:endParaRPr lang="en-US" sz="1250" dirty="0"/>
          </a:p>
          <a:p>
            <a:pPr marL="0" indent="0" algn="ctr">
              <a:lnSpc>
                <a:spcPct val="105000"/>
              </a:lnSpc>
              <a:buNone/>
            </a:pPr>
            <a:r>
              <a:rPr lang="en-US" sz="1250" b="1" dirty="0">
                <a:solidFill>
                  <a:srgbClr val="2B2B2B"/>
                </a:solidFill>
                <a:latin typeface="Calibri" pitchFamily="34" charset="0"/>
                <a:ea typeface="Calibri" pitchFamily="34" charset="-122"/>
                <a:cs typeface="Calibri" pitchFamily="34" charset="-120"/>
              </a:rPr>
              <a:t>thì khó, phải chờ lâu</a:t>
            </a:r>
            <a:endParaRPr lang="en-US" sz="1250" dirty="0"/>
          </a:p>
        </p:txBody>
      </p:sp>
      <p:sp>
        <p:nvSpPr>
          <p:cNvPr id="10" name="Shape 8"/>
          <p:cNvSpPr/>
          <p:nvPr/>
        </p:nvSpPr>
        <p:spPr>
          <a:xfrm rot="60000">
            <a:off x="4434840" y="4709160"/>
            <a:ext cx="3337560" cy="1417320"/>
          </a:xfrm>
          <a:prstGeom prst="roundRect">
            <a:avLst>
              <a:gd name="adj" fmla="val 7742"/>
            </a:avLst>
          </a:prstGeom>
          <a:solidFill>
            <a:srgbClr val="FFFFFF"/>
          </a:solidFill>
          <a:ln w="28575">
            <a:solidFill>
              <a:srgbClr val="2B2B2B"/>
            </a:solidFill>
            <a:prstDash val="solid"/>
          </a:ln>
          <a:effectLst>
            <a:outerShdw blurRad="101600" dist="63500" dir="2700000" algn="bl" rotWithShape="0">
              <a:srgbClr val="2B2B2B">
                <a:alpha val="85000"/>
              </a:srgbClr>
            </a:outerShdw>
          </a:effectLst>
        </p:spPr>
      </p:sp>
      <p:sp>
        <p:nvSpPr>
          <p:cNvPr id="11" name="Shape 9"/>
          <p:cNvSpPr/>
          <p:nvPr/>
        </p:nvSpPr>
        <p:spPr>
          <a:xfrm rot="60000">
            <a:off x="4663440" y="4937760"/>
            <a:ext cx="502920" cy="502920"/>
          </a:xfrm>
          <a:prstGeom prst="roundRect">
            <a:avLst>
              <a:gd name="adj" fmla="val 50909"/>
            </a:avLst>
          </a:prstGeom>
          <a:solidFill>
            <a:srgbClr val="2AA39D"/>
          </a:solidFill>
          <a:ln w="25400">
            <a:solidFill>
              <a:srgbClr val="2B2B2B"/>
            </a:solidFill>
            <a:prstDash val="solid"/>
          </a:ln>
        </p:spPr>
      </p:sp>
      <p:sp>
        <p:nvSpPr>
          <p:cNvPr id="12" name="Text 10"/>
          <p:cNvSpPr/>
          <p:nvPr/>
        </p:nvSpPr>
        <p:spPr>
          <a:xfrm rot="60000">
            <a:off x="4572000" y="5504688"/>
            <a:ext cx="3063240" cy="548640"/>
          </a:xfrm>
          <a:prstGeom prst="rect">
            <a:avLst/>
          </a:prstGeom>
          <a:noFill/>
          <a:ln/>
        </p:spPr>
        <p:txBody>
          <a:bodyPr wrap="square" rtlCol="0" anchor="t"/>
          <a:lstStyle/>
          <a:p>
            <a:pPr marL="0" indent="0" algn="ctr">
              <a:lnSpc>
                <a:spcPct val="105000"/>
              </a:lnSpc>
              <a:buNone/>
            </a:pPr>
            <a:r>
              <a:rPr lang="en-US" sz="1250" b="1" dirty="0">
                <a:solidFill>
                  <a:srgbClr val="2B2B2B"/>
                </a:solidFill>
                <a:latin typeface="Calibri" pitchFamily="34" charset="0"/>
                <a:ea typeface="Calibri" pitchFamily="34" charset="-122"/>
                <a:cs typeface="Calibri" pitchFamily="34" charset="-120"/>
              </a:rPr>
              <a:t>Hỏi bạn bè hoặc AI ngoài</a:t>
            </a:r>
            <a:endParaRPr lang="en-US" sz="1250" dirty="0"/>
          </a:p>
          <a:p>
            <a:pPr marL="0" indent="0" algn="ctr">
              <a:lnSpc>
                <a:spcPct val="105000"/>
              </a:lnSpc>
              <a:buNone/>
            </a:pPr>
            <a:r>
              <a:rPr lang="en-US" sz="1250" b="1" dirty="0">
                <a:solidFill>
                  <a:srgbClr val="2B2B2B"/>
                </a:solidFill>
                <a:latin typeface="Calibri" pitchFamily="34" charset="0"/>
                <a:ea typeface="Calibri" pitchFamily="34" charset="-122"/>
                <a:cs typeface="Calibri" pitchFamily="34" charset="-120"/>
              </a:rPr>
              <a:t>thì không biết đúng hay sai</a:t>
            </a:r>
            <a:endParaRPr lang="en-US" sz="1250" dirty="0"/>
          </a:p>
        </p:txBody>
      </p:sp>
      <p:sp>
        <p:nvSpPr>
          <p:cNvPr id="13" name="Shape 11"/>
          <p:cNvSpPr/>
          <p:nvPr/>
        </p:nvSpPr>
        <p:spPr>
          <a:xfrm rot="-60000">
            <a:off x="8046720" y="4709160"/>
            <a:ext cx="3337560" cy="1417320"/>
          </a:xfrm>
          <a:prstGeom prst="roundRect">
            <a:avLst>
              <a:gd name="adj" fmla="val 7742"/>
            </a:avLst>
          </a:prstGeom>
          <a:solidFill>
            <a:srgbClr val="FFFFFF"/>
          </a:solidFill>
          <a:ln w="28575">
            <a:solidFill>
              <a:srgbClr val="2B2B2B"/>
            </a:solidFill>
            <a:prstDash val="solid"/>
          </a:ln>
          <a:effectLst>
            <a:outerShdw blurRad="101600" dist="63500" dir="2700000" algn="bl" rotWithShape="0">
              <a:srgbClr val="2B2B2B">
                <a:alpha val="85000"/>
              </a:srgbClr>
            </a:outerShdw>
          </a:effectLst>
        </p:spPr>
      </p:sp>
      <p:sp>
        <p:nvSpPr>
          <p:cNvPr id="14" name="Shape 12"/>
          <p:cNvSpPr/>
          <p:nvPr/>
        </p:nvSpPr>
        <p:spPr>
          <a:xfrm rot="-60000">
            <a:off x="8275320" y="4937760"/>
            <a:ext cx="502920" cy="502920"/>
          </a:xfrm>
          <a:prstGeom prst="roundRect">
            <a:avLst>
              <a:gd name="adj" fmla="val 50909"/>
            </a:avLst>
          </a:prstGeom>
          <a:solidFill>
            <a:srgbClr val="B9789E"/>
          </a:solidFill>
          <a:ln w="25400">
            <a:solidFill>
              <a:srgbClr val="2B2B2B"/>
            </a:solidFill>
            <a:prstDash val="solid"/>
          </a:ln>
        </p:spPr>
      </p:sp>
      <p:sp>
        <p:nvSpPr>
          <p:cNvPr id="15" name="Text 13"/>
          <p:cNvSpPr/>
          <p:nvPr/>
        </p:nvSpPr>
        <p:spPr>
          <a:xfrm rot="-60000">
            <a:off x="8183880" y="5504688"/>
            <a:ext cx="3063240" cy="548640"/>
          </a:xfrm>
          <a:prstGeom prst="rect">
            <a:avLst/>
          </a:prstGeom>
          <a:noFill/>
          <a:ln/>
        </p:spPr>
        <p:txBody>
          <a:bodyPr wrap="square" rtlCol="0" anchor="t"/>
          <a:lstStyle/>
          <a:p>
            <a:pPr marL="0" indent="0" algn="ctr">
              <a:lnSpc>
                <a:spcPct val="105000"/>
              </a:lnSpc>
              <a:buNone/>
            </a:pPr>
            <a:r>
              <a:rPr lang="en-US" sz="1250" b="1" dirty="0">
                <a:solidFill>
                  <a:srgbClr val="2B2B2B"/>
                </a:solidFill>
                <a:latin typeface="Calibri" pitchFamily="34" charset="0"/>
                <a:ea typeface="Calibri" pitchFamily="34" charset="-122"/>
                <a:cs typeface="Calibri" pitchFamily="34" charset="-120"/>
              </a:rPr>
              <a:t>Kết quả: đành tin liều,</a:t>
            </a:r>
            <a:endParaRPr lang="en-US" sz="1250" dirty="0"/>
          </a:p>
          <a:p>
            <a:pPr marL="0" indent="0" algn="ctr">
              <a:lnSpc>
                <a:spcPct val="105000"/>
              </a:lnSpc>
              <a:buNone/>
            </a:pPr>
            <a:r>
              <a:rPr lang="en-US" sz="1250" b="1" dirty="0">
                <a:solidFill>
                  <a:srgbClr val="2B2B2B"/>
                </a:solidFill>
                <a:latin typeface="Calibri" pitchFamily="34" charset="0"/>
                <a:ea typeface="Calibri" pitchFamily="34" charset="-122"/>
                <a:cs typeface="Calibri" pitchFamily="34" charset="-120"/>
              </a:rPr>
              <a:t>hoặc bỏ luôn phần đó</a:t>
            </a:r>
            <a:endParaRPr lang="en-US" sz="1250" dirty="0"/>
          </a:p>
        </p:txBody>
      </p:sp>
      <p:sp>
        <p:nvSpPr>
          <p:cNvPr id="16" name="Shape 14"/>
          <p:cNvSpPr/>
          <p:nvPr/>
        </p:nvSpPr>
        <p:spPr>
          <a:xfrm>
            <a:off x="11475720" y="6263640"/>
            <a:ext cx="457200" cy="457200"/>
          </a:xfrm>
          <a:prstGeom prst="ellipse">
            <a:avLst/>
          </a:prstGeom>
          <a:solidFill>
            <a:srgbClr val="FFFFFF"/>
          </a:solidFill>
          <a:ln w="28575">
            <a:solidFill>
              <a:srgbClr val="2B2B2B"/>
            </a:solidFill>
            <a:prstDash val="solid"/>
          </a:ln>
        </p:spPr>
      </p:sp>
      <p:sp>
        <p:nvSpPr>
          <p:cNvPr id="17" name="Text 15"/>
          <p:cNvSpPr/>
          <p:nvPr/>
        </p:nvSpPr>
        <p:spPr>
          <a:xfrm>
            <a:off x="11475720" y="6263640"/>
            <a:ext cx="457200" cy="457200"/>
          </a:xfrm>
          <a:prstGeom prst="rect">
            <a:avLst/>
          </a:prstGeom>
          <a:noFill/>
          <a:ln/>
        </p:spPr>
        <p:txBody>
          <a:bodyPr wrap="square"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20000">
            <a:off x="502920" y="411480"/>
            <a:ext cx="3566160" cy="457200"/>
          </a:xfrm>
          <a:prstGeom prst="roundRect">
            <a:avLst>
              <a:gd name="adj" fmla="val 50000"/>
            </a:avLst>
          </a:prstGeom>
          <a:solidFill>
            <a:srgbClr val="FF6B54"/>
          </a:solidFill>
          <a:ln w="25400">
            <a:solidFill>
              <a:srgbClr val="2B2B2B"/>
            </a:solidFill>
            <a:prstDash val="solid"/>
          </a:ln>
          <a:effectLst>
            <a:outerShdw blurRad="101600" dist="50800" dir="2700000" algn="bl" rotWithShape="0">
              <a:srgbClr val="2B2B2B">
                <a:alpha val="80000"/>
              </a:srgbClr>
            </a:outerShdw>
          </a:effectLst>
        </p:spPr>
      </p:sp>
      <p:sp>
        <p:nvSpPr>
          <p:cNvPr id="3" name="Text 1"/>
          <p:cNvSpPr/>
          <p:nvPr/>
        </p:nvSpPr>
        <p:spPr>
          <a:xfrm rot="-120000">
            <a:off x="502920" y="411480"/>
            <a:ext cx="3566160" cy="4572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02  ·  3 CÂU CHUYỆN CHÚNG TÔI NGHE ĐƯỢC</a:t>
            </a:r>
            <a:endParaRPr lang="en-US" sz="1150" dirty="0"/>
          </a:p>
        </p:txBody>
      </p:sp>
      <p:sp>
        <p:nvSpPr>
          <p:cNvPr id="4" name="Text 2"/>
          <p:cNvSpPr/>
          <p:nvPr/>
        </p:nvSpPr>
        <p:spPr>
          <a:xfrm>
            <a:off x="502920" y="960120"/>
            <a:ext cx="10789920" cy="868680"/>
          </a:xfrm>
          <a:prstGeom prst="rect">
            <a:avLst/>
          </a:prstGeom>
          <a:noFill/>
          <a:ln/>
        </p:spPr>
        <p:txBody>
          <a:bodyPr wrap="square" rtlCol="0" anchor="t"/>
          <a:lstStyle/>
          <a:p>
            <a:pPr marL="0" indent="0" algn="l">
              <a:buNone/>
            </a:pPr>
            <a:r>
              <a:rPr lang="en-US" sz="3000" b="1" dirty="0">
                <a:solidFill>
                  <a:srgbClr val="2B2B2B"/>
                </a:solidFill>
                <a:latin typeface="Calibri" pitchFamily="34" charset="0"/>
                <a:ea typeface="Calibri" pitchFamily="34" charset="-122"/>
                <a:cs typeface="Calibri" pitchFamily="34" charset="-120"/>
              </a:rPr>
              <a:t>Ba cuộc phỏng vấn, một điểm chung</a:t>
            </a:r>
            <a:endParaRPr lang="en-US" sz="3000" dirty="0"/>
          </a:p>
        </p:txBody>
      </p:sp>
      <p:sp>
        <p:nvSpPr>
          <p:cNvPr id="5" name="Shape 3"/>
          <p:cNvSpPr/>
          <p:nvPr/>
        </p:nvSpPr>
        <p:spPr>
          <a:xfrm rot="-90000">
            <a:off x="640080" y="1965960"/>
            <a:ext cx="3520440" cy="3794760"/>
          </a:xfrm>
          <a:prstGeom prst="roundRect">
            <a:avLst>
              <a:gd name="adj" fmla="val 3117"/>
            </a:avLst>
          </a:prstGeom>
          <a:solidFill>
            <a:srgbClr val="FFF3D2"/>
          </a:solidFill>
          <a:ln w="28575">
            <a:solidFill>
              <a:srgbClr val="2B2B2B"/>
            </a:solidFill>
            <a:prstDash val="solid"/>
          </a:ln>
          <a:effectLst>
            <a:outerShdw blurRad="101600" dist="63500" dir="2700000" algn="bl" rotWithShape="0">
              <a:srgbClr val="2B2B2B">
                <a:alpha val="85000"/>
              </a:srgbClr>
            </a:outerShdw>
          </a:effectLst>
        </p:spPr>
      </p:sp>
      <p:sp>
        <p:nvSpPr>
          <p:cNvPr id="6" name="Text 4"/>
          <p:cNvSpPr/>
          <p:nvPr/>
        </p:nvSpPr>
        <p:spPr>
          <a:xfrm rot="-90000">
            <a:off x="713232" y="1764792"/>
            <a:ext cx="731520" cy="822960"/>
          </a:xfrm>
          <a:prstGeom prst="rect">
            <a:avLst/>
          </a:prstGeom>
          <a:noFill/>
          <a:ln/>
        </p:spPr>
        <p:txBody>
          <a:bodyPr wrap="square" rtlCol="0" anchor="t"/>
          <a:lstStyle/>
          <a:p>
            <a:pPr marL="0" indent="0" algn="l">
              <a:buNone/>
            </a:pPr>
            <a:r>
              <a:rPr lang="en-US" sz="5400" b="1" dirty="0">
                <a:solidFill>
                  <a:srgbClr val="FF6B54"/>
                </a:solidFill>
                <a:latin typeface="Calibri" pitchFamily="34" charset="0"/>
                <a:ea typeface="Calibri" pitchFamily="34" charset="-122"/>
                <a:cs typeface="Calibri" pitchFamily="34" charset="-120"/>
              </a:rPr>
              <a:t>"</a:t>
            </a:r>
            <a:endParaRPr lang="en-US" sz="5400" dirty="0"/>
          </a:p>
        </p:txBody>
      </p:sp>
      <p:sp>
        <p:nvSpPr>
          <p:cNvPr id="7" name="Text 5"/>
          <p:cNvSpPr/>
          <p:nvPr/>
        </p:nvSpPr>
        <p:spPr>
          <a:xfrm rot="-90000">
            <a:off x="914400" y="2258568"/>
            <a:ext cx="3017520" cy="3108960"/>
          </a:xfrm>
          <a:prstGeom prst="rect">
            <a:avLst/>
          </a:prstGeom>
          <a:noFill/>
          <a:ln/>
        </p:spPr>
        <p:txBody>
          <a:bodyPr wrap="square" rtlCol="0" anchor="t"/>
          <a:lstStyle/>
          <a:p>
            <a:pPr marL="0" indent="0" algn="l">
              <a:lnSpc>
                <a:spcPct val="112000"/>
              </a:lnSpc>
              <a:buNone/>
            </a:pPr>
            <a:r>
              <a:rPr lang="en-US" sz="1400" i="1" dirty="0">
                <a:solidFill>
                  <a:srgbClr val="2B2B2B"/>
                </a:solidFill>
                <a:latin typeface="Calibri" pitchFamily="34" charset="0"/>
                <a:ea typeface="Calibri" pitchFamily="34" charset="-122"/>
                <a:cs typeface="Calibri" pitchFamily="34" charset="-120"/>
              </a:rPr>
              <a:t>“Cố ý ít hỏi để học viên tự chủ hơn... có lúc trả lời không kịp, ảnh hưởng tới việc khác.”</a:t>
            </a:r>
            <a:endParaRPr lang="en-US" sz="1400" dirty="0"/>
          </a:p>
        </p:txBody>
      </p:sp>
      <p:sp>
        <p:nvSpPr>
          <p:cNvPr id="8" name="Text 6"/>
          <p:cNvSpPr/>
          <p:nvPr/>
        </p:nvSpPr>
        <p:spPr>
          <a:xfrm rot="-90000">
            <a:off x="914400" y="5303520"/>
            <a:ext cx="3017520" cy="365760"/>
          </a:xfrm>
          <a:prstGeom prst="rect">
            <a:avLst/>
          </a:prstGeom>
          <a:noFill/>
          <a:ln/>
        </p:spPr>
        <p:txBody>
          <a:bodyPr wrap="square" rtlCol="0" anchor="b"/>
          <a:lstStyle/>
          <a:p>
            <a:pPr marL="0" indent="0" algn="l">
              <a:buNone/>
            </a:pPr>
            <a:r>
              <a:rPr lang="en-US" sz="1150" b="1" dirty="0">
                <a:solidFill>
                  <a:srgbClr val="2AA39D"/>
                </a:solidFill>
                <a:latin typeface="Calibri" pitchFamily="34" charset="0"/>
                <a:ea typeface="Calibri" pitchFamily="34" charset="-122"/>
                <a:cs typeface="Calibri" pitchFamily="34" charset="-120"/>
              </a:rPr>
              <a:t>LC-01 · Coach hỗ trợ lab</a:t>
            </a:r>
            <a:endParaRPr lang="en-US" sz="1150" dirty="0"/>
          </a:p>
        </p:txBody>
      </p:sp>
      <p:sp>
        <p:nvSpPr>
          <p:cNvPr id="9" name="Shape 7"/>
          <p:cNvSpPr/>
          <p:nvPr/>
        </p:nvSpPr>
        <p:spPr>
          <a:xfrm rot="60000">
            <a:off x="4343400" y="1965960"/>
            <a:ext cx="3520440" cy="3794760"/>
          </a:xfrm>
          <a:prstGeom prst="roundRect">
            <a:avLst>
              <a:gd name="adj" fmla="val 3117"/>
            </a:avLst>
          </a:prstGeom>
          <a:solidFill>
            <a:srgbClr val="FFF3D2"/>
          </a:solidFill>
          <a:ln w="28575">
            <a:solidFill>
              <a:srgbClr val="2B2B2B"/>
            </a:solidFill>
            <a:prstDash val="solid"/>
          </a:ln>
          <a:effectLst>
            <a:outerShdw blurRad="101600" dist="63500" dir="2700000" algn="bl" rotWithShape="0">
              <a:srgbClr val="2B2B2B">
                <a:alpha val="85000"/>
              </a:srgbClr>
            </a:outerShdw>
          </a:effectLst>
        </p:spPr>
      </p:sp>
      <p:sp>
        <p:nvSpPr>
          <p:cNvPr id="10" name="Text 8"/>
          <p:cNvSpPr/>
          <p:nvPr/>
        </p:nvSpPr>
        <p:spPr>
          <a:xfrm rot="60000">
            <a:off x="4416552" y="1764792"/>
            <a:ext cx="731520" cy="822960"/>
          </a:xfrm>
          <a:prstGeom prst="rect">
            <a:avLst/>
          </a:prstGeom>
          <a:noFill/>
          <a:ln/>
        </p:spPr>
        <p:txBody>
          <a:bodyPr wrap="square" rtlCol="0" anchor="t"/>
          <a:lstStyle/>
          <a:p>
            <a:pPr marL="0" indent="0" algn="l">
              <a:buNone/>
            </a:pPr>
            <a:r>
              <a:rPr lang="en-US" sz="5400" b="1" dirty="0">
                <a:solidFill>
                  <a:srgbClr val="FF6B54"/>
                </a:solidFill>
                <a:latin typeface="Calibri" pitchFamily="34" charset="0"/>
                <a:ea typeface="Calibri" pitchFamily="34" charset="-122"/>
                <a:cs typeface="Calibri" pitchFamily="34" charset="-120"/>
              </a:rPr>
              <a:t>"</a:t>
            </a:r>
            <a:endParaRPr lang="en-US" sz="5400" dirty="0"/>
          </a:p>
        </p:txBody>
      </p:sp>
      <p:sp>
        <p:nvSpPr>
          <p:cNvPr id="11" name="Text 9"/>
          <p:cNvSpPr/>
          <p:nvPr/>
        </p:nvSpPr>
        <p:spPr>
          <a:xfrm rot="60000">
            <a:off x="4617720" y="2258568"/>
            <a:ext cx="3017520" cy="3108960"/>
          </a:xfrm>
          <a:prstGeom prst="rect">
            <a:avLst/>
          </a:prstGeom>
          <a:noFill/>
          <a:ln/>
        </p:spPr>
        <p:txBody>
          <a:bodyPr wrap="square" rtlCol="0" anchor="t"/>
          <a:lstStyle/>
          <a:p>
            <a:pPr marL="0" indent="0" algn="l">
              <a:lnSpc>
                <a:spcPct val="112000"/>
              </a:lnSpc>
              <a:buNone/>
            </a:pPr>
            <a:r>
              <a:rPr lang="en-US" sz="1400" i="1" dirty="0">
                <a:solidFill>
                  <a:srgbClr val="2B2B2B"/>
                </a:solidFill>
                <a:latin typeface="Calibri" pitchFamily="34" charset="0"/>
                <a:ea typeface="Calibri" pitchFamily="34" charset="-122"/>
                <a:cs typeface="Calibri" pitchFamily="34" charset="-120"/>
              </a:rPr>
              <a:t>Hỏi bạn thì chỉ đúng khoảng 80%, đôi khi còn sai. Hỏi AI ngoài thì lại tốn thêm tiền.</a:t>
            </a:r>
            <a:endParaRPr lang="en-US" sz="1400" dirty="0"/>
          </a:p>
        </p:txBody>
      </p:sp>
      <p:sp>
        <p:nvSpPr>
          <p:cNvPr id="12" name="Text 10"/>
          <p:cNvSpPr/>
          <p:nvPr/>
        </p:nvSpPr>
        <p:spPr>
          <a:xfrm rot="60000">
            <a:off x="4617720" y="5303520"/>
            <a:ext cx="3017520" cy="365760"/>
          </a:xfrm>
          <a:prstGeom prst="rect">
            <a:avLst/>
          </a:prstGeom>
          <a:noFill/>
          <a:ln/>
        </p:spPr>
        <p:txBody>
          <a:bodyPr wrap="square" rtlCol="0" anchor="b"/>
          <a:lstStyle/>
          <a:p>
            <a:pPr marL="0" indent="0" algn="l">
              <a:buNone/>
            </a:pPr>
            <a:r>
              <a:rPr lang="en-US" sz="1150" b="1" dirty="0">
                <a:solidFill>
                  <a:srgbClr val="FF6B54"/>
                </a:solidFill>
                <a:latin typeface="Calibri" pitchFamily="34" charset="0"/>
                <a:ea typeface="Calibri" pitchFamily="34" charset="-122"/>
                <a:cs typeface="Calibri" pitchFamily="34" charset="-120"/>
              </a:rPr>
              <a:t>Nguyễn Đức Đạt · Người học</a:t>
            </a:r>
            <a:endParaRPr lang="en-US" sz="1150" dirty="0"/>
          </a:p>
        </p:txBody>
      </p:sp>
      <p:sp>
        <p:nvSpPr>
          <p:cNvPr id="13" name="Shape 11"/>
          <p:cNvSpPr/>
          <p:nvPr/>
        </p:nvSpPr>
        <p:spPr>
          <a:xfrm rot="-60000">
            <a:off x="8046720" y="1965960"/>
            <a:ext cx="3520440" cy="3794760"/>
          </a:xfrm>
          <a:prstGeom prst="roundRect">
            <a:avLst>
              <a:gd name="adj" fmla="val 3117"/>
            </a:avLst>
          </a:prstGeom>
          <a:solidFill>
            <a:srgbClr val="FFF3D2"/>
          </a:solidFill>
          <a:ln w="28575">
            <a:solidFill>
              <a:srgbClr val="2B2B2B"/>
            </a:solidFill>
            <a:prstDash val="solid"/>
          </a:ln>
          <a:effectLst>
            <a:outerShdw blurRad="101600" dist="63500" dir="2700000" algn="bl" rotWithShape="0">
              <a:srgbClr val="2B2B2B">
                <a:alpha val="85000"/>
              </a:srgbClr>
            </a:outerShdw>
          </a:effectLst>
        </p:spPr>
      </p:sp>
      <p:sp>
        <p:nvSpPr>
          <p:cNvPr id="14" name="Text 12"/>
          <p:cNvSpPr/>
          <p:nvPr/>
        </p:nvSpPr>
        <p:spPr>
          <a:xfrm rot="-60000">
            <a:off x="8119872" y="1764792"/>
            <a:ext cx="731520" cy="822960"/>
          </a:xfrm>
          <a:prstGeom prst="rect">
            <a:avLst/>
          </a:prstGeom>
          <a:noFill/>
          <a:ln/>
        </p:spPr>
        <p:txBody>
          <a:bodyPr wrap="square" rtlCol="0" anchor="t"/>
          <a:lstStyle/>
          <a:p>
            <a:pPr marL="0" indent="0" algn="l">
              <a:buNone/>
            </a:pPr>
            <a:r>
              <a:rPr lang="en-US" sz="5400" b="1" dirty="0">
                <a:solidFill>
                  <a:srgbClr val="FF6B54"/>
                </a:solidFill>
                <a:latin typeface="Calibri" pitchFamily="34" charset="0"/>
                <a:ea typeface="Calibri" pitchFamily="34" charset="-122"/>
                <a:cs typeface="Calibri" pitchFamily="34" charset="-120"/>
              </a:rPr>
              <a:t>"</a:t>
            </a:r>
            <a:endParaRPr lang="en-US" sz="5400" dirty="0"/>
          </a:p>
        </p:txBody>
      </p:sp>
      <p:sp>
        <p:nvSpPr>
          <p:cNvPr id="15" name="Text 13"/>
          <p:cNvSpPr/>
          <p:nvPr/>
        </p:nvSpPr>
        <p:spPr>
          <a:xfrm rot="-60000">
            <a:off x="8321040" y="2258568"/>
            <a:ext cx="3017520" cy="3108960"/>
          </a:xfrm>
          <a:prstGeom prst="rect">
            <a:avLst/>
          </a:prstGeom>
          <a:noFill/>
          <a:ln/>
        </p:spPr>
        <p:txBody>
          <a:bodyPr wrap="square" rtlCol="0" anchor="t"/>
          <a:lstStyle/>
          <a:p>
            <a:pPr marL="0" indent="0" algn="l">
              <a:lnSpc>
                <a:spcPct val="112000"/>
              </a:lnSpc>
              <a:buNone/>
            </a:pPr>
            <a:r>
              <a:rPr lang="en-US" sz="1400" i="1" dirty="0">
                <a:solidFill>
                  <a:srgbClr val="2B2B2B"/>
                </a:solidFill>
                <a:latin typeface="Calibri" pitchFamily="34" charset="0"/>
                <a:ea typeface="Calibri" pitchFamily="34" charset="-122"/>
                <a:cs typeface="Calibri" pitchFamily="34" charset="-120"/>
              </a:rPr>
              <a:t>“Anh chụp slide lên... anh buộc phải tin thôi.” — “Anh ngại hỏi lab coach. Nên anh bỏ qua.”</a:t>
            </a:r>
            <a:endParaRPr lang="en-US" sz="1400" dirty="0"/>
          </a:p>
        </p:txBody>
      </p:sp>
      <p:sp>
        <p:nvSpPr>
          <p:cNvPr id="16" name="Text 14"/>
          <p:cNvSpPr/>
          <p:nvPr/>
        </p:nvSpPr>
        <p:spPr>
          <a:xfrm rot="-60000">
            <a:off x="8321040" y="5303520"/>
            <a:ext cx="3017520" cy="365760"/>
          </a:xfrm>
          <a:prstGeom prst="rect">
            <a:avLst/>
          </a:prstGeom>
          <a:noFill/>
          <a:ln/>
        </p:spPr>
        <p:txBody>
          <a:bodyPr wrap="square" rtlCol="0" anchor="b"/>
          <a:lstStyle/>
          <a:p>
            <a:pPr marL="0" indent="0" algn="l">
              <a:buNone/>
            </a:pPr>
            <a:r>
              <a:rPr lang="en-US" sz="1150" b="1" dirty="0">
                <a:solidFill>
                  <a:srgbClr val="B9789E"/>
                </a:solidFill>
                <a:latin typeface="Calibri" pitchFamily="34" charset="0"/>
                <a:ea typeface="Calibri" pitchFamily="34" charset="-122"/>
                <a:cs typeface="Calibri" pitchFamily="34" charset="-120"/>
              </a:rPr>
              <a:t>Đỗ Duy Đức · Người học</a:t>
            </a:r>
            <a:endParaRPr lang="en-US" sz="1150" dirty="0"/>
          </a:p>
        </p:txBody>
      </p:sp>
      <p:sp>
        <p:nvSpPr>
          <p:cNvPr id="17" name="Shape 15"/>
          <p:cNvSpPr/>
          <p:nvPr/>
        </p:nvSpPr>
        <p:spPr>
          <a:xfrm>
            <a:off x="11475720" y="6263640"/>
            <a:ext cx="457200" cy="457200"/>
          </a:xfrm>
          <a:prstGeom prst="ellipse">
            <a:avLst/>
          </a:prstGeom>
          <a:solidFill>
            <a:srgbClr val="FFFFFF"/>
          </a:solidFill>
          <a:ln w="28575">
            <a:solidFill>
              <a:srgbClr val="2B2B2B"/>
            </a:solidFill>
            <a:prstDash val="solid"/>
          </a:ln>
        </p:spPr>
      </p:sp>
      <p:sp>
        <p:nvSpPr>
          <p:cNvPr id="18" name="Text 16"/>
          <p:cNvSpPr/>
          <p:nvPr/>
        </p:nvSpPr>
        <p:spPr>
          <a:xfrm>
            <a:off x="11475720" y="6263640"/>
            <a:ext cx="457200" cy="457200"/>
          </a:xfrm>
          <a:prstGeom prst="rect">
            <a:avLst/>
          </a:prstGeom>
          <a:noFill/>
          <a:ln/>
        </p:spPr>
        <p:txBody>
          <a:bodyPr wrap="square"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20000">
            <a:off x="502920" y="411480"/>
            <a:ext cx="3566160" cy="457200"/>
          </a:xfrm>
          <a:prstGeom prst="roundRect">
            <a:avLst>
              <a:gd name="adj" fmla="val 50000"/>
            </a:avLst>
          </a:prstGeom>
          <a:solidFill>
            <a:srgbClr val="FF6B54"/>
          </a:solidFill>
          <a:ln w="25400">
            <a:solidFill>
              <a:srgbClr val="2B2B2B"/>
            </a:solidFill>
            <a:prstDash val="solid"/>
          </a:ln>
          <a:effectLst>
            <a:outerShdw blurRad="101600" dist="50800" dir="2700000" algn="bl" rotWithShape="0">
              <a:srgbClr val="2B2B2B">
                <a:alpha val="80000"/>
              </a:srgbClr>
            </a:outerShdw>
          </a:effectLst>
        </p:spPr>
      </p:sp>
      <p:sp>
        <p:nvSpPr>
          <p:cNvPr id="3" name="Text 1"/>
          <p:cNvSpPr/>
          <p:nvPr/>
        </p:nvSpPr>
        <p:spPr>
          <a:xfrm rot="-120000">
            <a:off x="502920" y="411480"/>
            <a:ext cx="3566160" cy="4572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03  ·  NHỮNG ĐIỀU LẶP LẠI</a:t>
            </a:r>
            <a:endParaRPr lang="en-US" sz="1150" dirty="0"/>
          </a:p>
        </p:txBody>
      </p:sp>
      <p:sp>
        <p:nvSpPr>
          <p:cNvPr id="4" name="Text 2"/>
          <p:cNvSpPr/>
          <p:nvPr/>
        </p:nvSpPr>
        <p:spPr>
          <a:xfrm>
            <a:off x="502920" y="960120"/>
            <a:ext cx="10789920" cy="868680"/>
          </a:xfrm>
          <a:prstGeom prst="rect">
            <a:avLst/>
          </a:prstGeom>
          <a:noFill/>
          <a:ln/>
        </p:spPr>
        <p:txBody>
          <a:bodyPr wrap="square" rtlCol="0" anchor="t"/>
          <a:lstStyle/>
          <a:p>
            <a:pPr marL="0" indent="0" algn="l">
              <a:buNone/>
            </a:pPr>
            <a:r>
              <a:rPr lang="en-US" sz="2700" b="1" dirty="0">
                <a:solidFill>
                  <a:srgbClr val="2B2B2B"/>
                </a:solidFill>
                <a:latin typeface="Calibri" pitchFamily="34" charset="0"/>
                <a:ea typeface="Calibri" pitchFamily="34" charset="-122"/>
                <a:cs typeface="Calibri" pitchFamily="34" charset="-120"/>
              </a:rPr>
              <a:t>Bốn điều được nhiều người nhắc tới giống nhau</a:t>
            </a:r>
            <a:endParaRPr lang="en-US" sz="2700" dirty="0"/>
          </a:p>
        </p:txBody>
      </p:sp>
      <p:sp>
        <p:nvSpPr>
          <p:cNvPr id="5" name="Shape 3"/>
          <p:cNvSpPr/>
          <p:nvPr/>
        </p:nvSpPr>
        <p:spPr>
          <a:xfrm rot="-48000">
            <a:off x="640080" y="1965960"/>
            <a:ext cx="5212080" cy="1965960"/>
          </a:xfrm>
          <a:prstGeom prst="roundRect">
            <a:avLst>
              <a:gd name="adj" fmla="val 5581"/>
            </a:avLst>
          </a:prstGeom>
          <a:solidFill>
            <a:srgbClr val="FFFFFF"/>
          </a:solidFill>
          <a:ln w="28575">
            <a:solidFill>
              <a:srgbClr val="2B2B2B"/>
            </a:solidFill>
            <a:prstDash val="solid"/>
          </a:ln>
          <a:effectLst>
            <a:outerShdw blurRad="101600" dist="63500" dir="2700000" algn="bl" rotWithShape="0">
              <a:srgbClr val="2B2B2B">
                <a:alpha val="85000"/>
              </a:srgbClr>
            </a:outerShdw>
          </a:effectLst>
        </p:spPr>
      </p:sp>
      <p:sp>
        <p:nvSpPr>
          <p:cNvPr id="6" name="Shape 4"/>
          <p:cNvSpPr/>
          <p:nvPr/>
        </p:nvSpPr>
        <p:spPr>
          <a:xfrm>
            <a:off x="868680" y="2221992"/>
            <a:ext cx="594360" cy="594360"/>
          </a:xfrm>
          <a:prstGeom prst="ellipse">
            <a:avLst/>
          </a:prstGeom>
          <a:solidFill>
            <a:srgbClr val="FF6B54"/>
          </a:solidFill>
          <a:ln w="31750">
            <a:solidFill>
              <a:srgbClr val="2B2B2B"/>
            </a:solidFill>
            <a:prstDash val="solid"/>
          </a:ln>
          <a:effectLst>
            <a:outerShdw blurRad="101600" dist="38100" dir="2700000" algn="bl" rotWithShape="0">
              <a:srgbClr val="2B2B2B">
                <a:alpha val="60000"/>
              </a:srgbClr>
            </a:outerShdw>
          </a:effectLst>
        </p:spPr>
      </p:sp>
      <p:sp>
        <p:nvSpPr>
          <p:cNvPr id="7" name="Text 5"/>
          <p:cNvSpPr/>
          <p:nvPr/>
        </p:nvSpPr>
        <p:spPr>
          <a:xfrm>
            <a:off x="868680" y="2221992"/>
            <a:ext cx="594360" cy="59436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6"/>
          <p:cNvSpPr/>
          <p:nvPr/>
        </p:nvSpPr>
        <p:spPr>
          <a:xfrm>
            <a:off x="1645920" y="2130552"/>
            <a:ext cx="4023360" cy="594360"/>
          </a:xfrm>
          <a:prstGeom prst="rect">
            <a:avLst/>
          </a:prstGeom>
          <a:noFill/>
          <a:ln/>
        </p:spPr>
        <p:txBody>
          <a:bodyPr wrap="square" rtlCol="0" anchor="t"/>
          <a:lstStyle/>
          <a:p>
            <a:pPr marL="0" indent="0">
              <a:lnSpc>
                <a:spcPct val="105000"/>
              </a:lnSpc>
              <a:buNone/>
            </a:pPr>
            <a:r>
              <a:rPr lang="en-US" sz="1450" b="1" dirty="0">
                <a:solidFill>
                  <a:srgbClr val="2B2B2B"/>
                </a:solidFill>
                <a:latin typeface="Calibri" pitchFamily="34" charset="0"/>
                <a:ea typeface="Calibri" pitchFamily="34" charset="-122"/>
                <a:cs typeface="Calibri" pitchFamily="34" charset="-120"/>
              </a:rPr>
              <a:t>Hỏi người thật thì khó và chậm</a:t>
            </a:r>
            <a:endParaRPr lang="en-US" sz="1450" dirty="0"/>
          </a:p>
        </p:txBody>
      </p:sp>
      <p:sp>
        <p:nvSpPr>
          <p:cNvPr id="9" name="Text 7"/>
          <p:cNvSpPr/>
          <p:nvPr/>
        </p:nvSpPr>
        <p:spPr>
          <a:xfrm>
            <a:off x="1645920" y="2743200"/>
            <a:ext cx="4023360" cy="1051560"/>
          </a:xfrm>
          <a:prstGeom prst="rect">
            <a:avLst/>
          </a:prstGeom>
          <a:noFill/>
          <a:ln/>
        </p:spPr>
        <p:txBody>
          <a:bodyPr wrap="square" rtlCol="0" anchor="t"/>
          <a:lstStyle/>
          <a:p>
            <a:pPr marL="0" indent="0">
              <a:lnSpc>
                <a:spcPct val="112000"/>
              </a:lnSpc>
              <a:buNone/>
            </a:pPr>
            <a:r>
              <a:rPr lang="en-US" sz="1150" dirty="0">
                <a:solidFill>
                  <a:srgbClr val="555555"/>
                </a:solidFill>
                <a:latin typeface="Calibri" pitchFamily="34" charset="0"/>
                <a:ea typeface="Calibri" pitchFamily="34" charset="-122"/>
                <a:cs typeface="Calibri" pitchFamily="34" charset="-120"/>
              </a:rPr>
              <a:t>Đạt sợ hỏi làm chậm giờ học. Đức ngại hỏi coach. Coach thì cố ý ít can thiệp. Ba lý do khác nhau, cùng một kết quả: không hỏi được ngay.</a:t>
            </a:r>
            <a:endParaRPr lang="en-US" sz="1150" dirty="0"/>
          </a:p>
        </p:txBody>
      </p:sp>
      <p:sp>
        <p:nvSpPr>
          <p:cNvPr id="10" name="Shape 8"/>
          <p:cNvSpPr/>
          <p:nvPr/>
        </p:nvSpPr>
        <p:spPr>
          <a:xfrm rot="48000">
            <a:off x="6126480" y="1965960"/>
            <a:ext cx="5212080" cy="1965960"/>
          </a:xfrm>
          <a:prstGeom prst="roundRect">
            <a:avLst>
              <a:gd name="adj" fmla="val 5581"/>
            </a:avLst>
          </a:prstGeom>
          <a:solidFill>
            <a:srgbClr val="FFFFFF"/>
          </a:solidFill>
          <a:ln w="28575">
            <a:solidFill>
              <a:srgbClr val="2B2B2B"/>
            </a:solidFill>
            <a:prstDash val="solid"/>
          </a:ln>
          <a:effectLst>
            <a:outerShdw blurRad="101600" dist="63500" dir="2700000" algn="bl" rotWithShape="0">
              <a:srgbClr val="2B2B2B">
                <a:alpha val="85000"/>
              </a:srgbClr>
            </a:outerShdw>
          </a:effectLst>
        </p:spPr>
      </p:sp>
      <p:sp>
        <p:nvSpPr>
          <p:cNvPr id="11" name="Shape 9"/>
          <p:cNvSpPr/>
          <p:nvPr/>
        </p:nvSpPr>
        <p:spPr>
          <a:xfrm>
            <a:off x="6355080" y="2221992"/>
            <a:ext cx="594360" cy="594360"/>
          </a:xfrm>
          <a:prstGeom prst="ellipse">
            <a:avLst/>
          </a:prstGeom>
          <a:solidFill>
            <a:srgbClr val="2AA39D"/>
          </a:solidFill>
          <a:ln w="31750">
            <a:solidFill>
              <a:srgbClr val="2B2B2B"/>
            </a:solidFill>
            <a:prstDash val="solid"/>
          </a:ln>
          <a:effectLst>
            <a:outerShdw blurRad="101600" dist="38100" dir="2700000" algn="bl" rotWithShape="0">
              <a:srgbClr val="2B2B2B">
                <a:alpha val="60000"/>
              </a:srgbClr>
            </a:outerShdw>
          </a:effectLst>
        </p:spPr>
      </p:sp>
      <p:sp>
        <p:nvSpPr>
          <p:cNvPr id="12" name="Text 10"/>
          <p:cNvSpPr/>
          <p:nvPr/>
        </p:nvSpPr>
        <p:spPr>
          <a:xfrm>
            <a:off x="6355080" y="2221992"/>
            <a:ext cx="594360" cy="59436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1"/>
          <p:cNvSpPr/>
          <p:nvPr/>
        </p:nvSpPr>
        <p:spPr>
          <a:xfrm>
            <a:off x="7132320" y="2130552"/>
            <a:ext cx="4023360" cy="594360"/>
          </a:xfrm>
          <a:prstGeom prst="rect">
            <a:avLst/>
          </a:prstGeom>
          <a:noFill/>
          <a:ln/>
        </p:spPr>
        <p:txBody>
          <a:bodyPr wrap="square" rtlCol="0" anchor="t"/>
          <a:lstStyle/>
          <a:p>
            <a:pPr marL="0" indent="0">
              <a:lnSpc>
                <a:spcPct val="105000"/>
              </a:lnSpc>
              <a:buNone/>
            </a:pPr>
            <a:r>
              <a:rPr lang="en-US" sz="1450" b="1" dirty="0">
                <a:solidFill>
                  <a:srgbClr val="2B2B2B"/>
                </a:solidFill>
                <a:latin typeface="Calibri" pitchFamily="34" charset="0"/>
                <a:ea typeface="Calibri" pitchFamily="34" charset="-122"/>
                <a:cs typeface="Calibri" pitchFamily="34" charset="-120"/>
              </a:rPr>
              <a:t>Ai cũng chuyển sang hỏi AI bên ngoài</a:t>
            </a:r>
            <a:endParaRPr lang="en-US" sz="1450" dirty="0"/>
          </a:p>
        </p:txBody>
      </p:sp>
      <p:sp>
        <p:nvSpPr>
          <p:cNvPr id="14" name="Text 12"/>
          <p:cNvSpPr/>
          <p:nvPr/>
        </p:nvSpPr>
        <p:spPr>
          <a:xfrm>
            <a:off x="7132320" y="2743200"/>
            <a:ext cx="4023360" cy="1051560"/>
          </a:xfrm>
          <a:prstGeom prst="rect">
            <a:avLst/>
          </a:prstGeom>
          <a:noFill/>
          <a:ln/>
        </p:spPr>
        <p:txBody>
          <a:bodyPr wrap="square" rtlCol="0" anchor="t"/>
          <a:lstStyle/>
          <a:p>
            <a:pPr marL="0" indent="0">
              <a:lnSpc>
                <a:spcPct val="112000"/>
              </a:lnSpc>
              <a:buNone/>
            </a:pPr>
            <a:r>
              <a:rPr lang="en-US" sz="1150" dirty="0">
                <a:solidFill>
                  <a:srgbClr val="555555"/>
                </a:solidFill>
                <a:latin typeface="Calibri" pitchFamily="34" charset="0"/>
                <a:ea typeface="Calibri" pitchFamily="34" charset="-122"/>
                <a:cs typeface="Calibri" pitchFamily="34" charset="-120"/>
              </a:rPr>
              <a:t>Không ai chọn đọc lại slide. Cả hai bạn học đều ra ngoài hỏi Claude hoặc ChatGPT.</a:t>
            </a:r>
            <a:endParaRPr lang="en-US" sz="1150" dirty="0"/>
          </a:p>
        </p:txBody>
      </p:sp>
      <p:sp>
        <p:nvSpPr>
          <p:cNvPr id="15" name="Shape 13"/>
          <p:cNvSpPr/>
          <p:nvPr/>
        </p:nvSpPr>
        <p:spPr>
          <a:xfrm rot="-48000">
            <a:off x="640080" y="4206240"/>
            <a:ext cx="5212080" cy="1965960"/>
          </a:xfrm>
          <a:prstGeom prst="roundRect">
            <a:avLst>
              <a:gd name="adj" fmla="val 5581"/>
            </a:avLst>
          </a:prstGeom>
          <a:solidFill>
            <a:srgbClr val="FFFFFF"/>
          </a:solidFill>
          <a:ln w="28575">
            <a:solidFill>
              <a:srgbClr val="2B2B2B"/>
            </a:solidFill>
            <a:prstDash val="solid"/>
          </a:ln>
          <a:effectLst>
            <a:outerShdw blurRad="101600" dist="63500" dir="2700000" algn="bl" rotWithShape="0">
              <a:srgbClr val="2B2B2B">
                <a:alpha val="85000"/>
              </a:srgbClr>
            </a:outerShdw>
          </a:effectLst>
        </p:spPr>
      </p:sp>
      <p:sp>
        <p:nvSpPr>
          <p:cNvPr id="16" name="Shape 14"/>
          <p:cNvSpPr/>
          <p:nvPr/>
        </p:nvSpPr>
        <p:spPr>
          <a:xfrm>
            <a:off x="868680" y="4462272"/>
            <a:ext cx="594360" cy="594360"/>
          </a:xfrm>
          <a:prstGeom prst="ellipse">
            <a:avLst/>
          </a:prstGeom>
          <a:solidFill>
            <a:srgbClr val="B9789E"/>
          </a:solidFill>
          <a:ln w="31750">
            <a:solidFill>
              <a:srgbClr val="2B2B2B"/>
            </a:solidFill>
            <a:prstDash val="solid"/>
          </a:ln>
          <a:effectLst>
            <a:outerShdw blurRad="101600" dist="38100" dir="2700000" algn="bl" rotWithShape="0">
              <a:srgbClr val="2B2B2B">
                <a:alpha val="60000"/>
              </a:srgbClr>
            </a:outerShdw>
          </a:effectLst>
        </p:spPr>
      </p:sp>
      <p:sp>
        <p:nvSpPr>
          <p:cNvPr id="17" name="Text 15"/>
          <p:cNvSpPr/>
          <p:nvPr/>
        </p:nvSpPr>
        <p:spPr>
          <a:xfrm>
            <a:off x="868680" y="4462272"/>
            <a:ext cx="594360" cy="59436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8" name="Text 16"/>
          <p:cNvSpPr/>
          <p:nvPr/>
        </p:nvSpPr>
        <p:spPr>
          <a:xfrm>
            <a:off x="1645920" y="4370832"/>
            <a:ext cx="4023360" cy="594360"/>
          </a:xfrm>
          <a:prstGeom prst="rect">
            <a:avLst/>
          </a:prstGeom>
          <a:noFill/>
          <a:ln/>
        </p:spPr>
        <p:txBody>
          <a:bodyPr wrap="square" rtlCol="0" anchor="t"/>
          <a:lstStyle/>
          <a:p>
            <a:pPr marL="0" indent="0">
              <a:lnSpc>
                <a:spcPct val="105000"/>
              </a:lnSpc>
              <a:buNone/>
            </a:pPr>
            <a:r>
              <a:rPr lang="en-US" sz="1450" b="1" dirty="0">
                <a:solidFill>
                  <a:srgbClr val="2B2B2B"/>
                </a:solidFill>
                <a:latin typeface="Calibri" pitchFamily="34" charset="0"/>
                <a:ea typeface="Calibri" pitchFamily="34" charset="-122"/>
                <a:cs typeface="Calibri" pitchFamily="34" charset="-120"/>
              </a:rPr>
              <a:t>Cái mất không phải thời gian, mà là độ tin cậy</a:t>
            </a:r>
            <a:endParaRPr lang="en-US" sz="1450" dirty="0"/>
          </a:p>
        </p:txBody>
      </p:sp>
      <p:sp>
        <p:nvSpPr>
          <p:cNvPr id="19" name="Text 17"/>
          <p:cNvSpPr/>
          <p:nvPr/>
        </p:nvSpPr>
        <p:spPr>
          <a:xfrm>
            <a:off x="1645920" y="4983480"/>
            <a:ext cx="4023360" cy="1051560"/>
          </a:xfrm>
          <a:prstGeom prst="rect">
            <a:avLst/>
          </a:prstGeom>
          <a:noFill/>
          <a:ln/>
        </p:spPr>
        <p:txBody>
          <a:bodyPr wrap="square" rtlCol="0" anchor="t"/>
          <a:lstStyle/>
          <a:p>
            <a:pPr marL="0" indent="0">
              <a:lnSpc>
                <a:spcPct val="112000"/>
              </a:lnSpc>
              <a:buNone/>
            </a:pPr>
            <a:r>
              <a:rPr lang="en-US" sz="1150" dirty="0">
                <a:solidFill>
                  <a:srgbClr val="555555"/>
                </a:solidFill>
                <a:latin typeface="Calibri" pitchFamily="34" charset="0"/>
                <a:ea typeface="Calibri" pitchFamily="34" charset="-122"/>
                <a:cs typeface="Calibri" pitchFamily="34" charset="-120"/>
              </a:rPr>
              <a:t>Hỏi bạn thì chỉ đúng khoảng 80%. Đức nói thẳng: “buộc phải tin” vì không có cách nào kiểm tra lại.</a:t>
            </a:r>
            <a:endParaRPr lang="en-US" sz="1150" dirty="0"/>
          </a:p>
        </p:txBody>
      </p:sp>
      <p:sp>
        <p:nvSpPr>
          <p:cNvPr id="20" name="Shape 18"/>
          <p:cNvSpPr/>
          <p:nvPr/>
        </p:nvSpPr>
        <p:spPr>
          <a:xfrm rot="48000">
            <a:off x="6126480" y="4206240"/>
            <a:ext cx="5212080" cy="1965960"/>
          </a:xfrm>
          <a:prstGeom prst="roundRect">
            <a:avLst>
              <a:gd name="adj" fmla="val 5581"/>
            </a:avLst>
          </a:prstGeom>
          <a:solidFill>
            <a:srgbClr val="FFFFFF"/>
          </a:solidFill>
          <a:ln w="28575">
            <a:solidFill>
              <a:srgbClr val="2B2B2B"/>
            </a:solidFill>
            <a:prstDash val="solid"/>
          </a:ln>
          <a:effectLst>
            <a:outerShdw blurRad="101600" dist="63500" dir="2700000" algn="bl" rotWithShape="0">
              <a:srgbClr val="2B2B2B">
                <a:alpha val="85000"/>
              </a:srgbClr>
            </a:outerShdw>
          </a:effectLst>
        </p:spPr>
      </p:sp>
      <p:sp>
        <p:nvSpPr>
          <p:cNvPr id="21" name="Shape 19"/>
          <p:cNvSpPr/>
          <p:nvPr/>
        </p:nvSpPr>
        <p:spPr>
          <a:xfrm>
            <a:off x="6355080" y="4462272"/>
            <a:ext cx="594360" cy="594360"/>
          </a:xfrm>
          <a:prstGeom prst="ellipse">
            <a:avLst/>
          </a:prstGeom>
          <a:solidFill>
            <a:srgbClr val="3FA34D"/>
          </a:solidFill>
          <a:ln w="31750">
            <a:solidFill>
              <a:srgbClr val="2B2B2B"/>
            </a:solidFill>
            <a:prstDash val="solid"/>
          </a:ln>
          <a:effectLst>
            <a:outerShdw blurRad="101600" dist="38100" dir="2700000" algn="bl" rotWithShape="0">
              <a:srgbClr val="2B2B2B">
                <a:alpha val="60000"/>
              </a:srgbClr>
            </a:outerShdw>
          </a:effectLst>
        </p:spPr>
      </p:sp>
      <p:sp>
        <p:nvSpPr>
          <p:cNvPr id="22" name="Text 20"/>
          <p:cNvSpPr/>
          <p:nvPr/>
        </p:nvSpPr>
        <p:spPr>
          <a:xfrm>
            <a:off x="6355080" y="4462272"/>
            <a:ext cx="594360" cy="59436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3" name="Text 21"/>
          <p:cNvSpPr/>
          <p:nvPr/>
        </p:nvSpPr>
        <p:spPr>
          <a:xfrm>
            <a:off x="7132320" y="4370832"/>
            <a:ext cx="4023360" cy="594360"/>
          </a:xfrm>
          <a:prstGeom prst="rect">
            <a:avLst/>
          </a:prstGeom>
          <a:noFill/>
          <a:ln/>
        </p:spPr>
        <p:txBody>
          <a:bodyPr wrap="square" rtlCol="0" anchor="t"/>
          <a:lstStyle/>
          <a:p>
            <a:pPr marL="0" indent="0">
              <a:lnSpc>
                <a:spcPct val="105000"/>
              </a:lnSpc>
              <a:buNone/>
            </a:pPr>
            <a:r>
              <a:rPr lang="en-US" sz="1450" b="1" dirty="0">
                <a:solidFill>
                  <a:srgbClr val="2B2B2B"/>
                </a:solidFill>
                <a:latin typeface="Calibri" pitchFamily="34" charset="0"/>
                <a:ea typeface="Calibri" pitchFamily="34" charset="-122"/>
                <a:cs typeface="Calibri" pitchFamily="34" charset="-120"/>
              </a:rPr>
              <a:t>Có người chọn bỏ qua luôn, không học nữa</a:t>
            </a:r>
            <a:endParaRPr lang="en-US" sz="1450" dirty="0"/>
          </a:p>
        </p:txBody>
      </p:sp>
      <p:sp>
        <p:nvSpPr>
          <p:cNvPr id="24" name="Text 22"/>
          <p:cNvSpPr/>
          <p:nvPr/>
        </p:nvSpPr>
        <p:spPr>
          <a:xfrm>
            <a:off x="7132320" y="4983480"/>
            <a:ext cx="4023360" cy="1051560"/>
          </a:xfrm>
          <a:prstGeom prst="rect">
            <a:avLst/>
          </a:prstGeom>
          <a:noFill/>
          <a:ln/>
        </p:spPr>
        <p:txBody>
          <a:bodyPr wrap="square" rtlCol="0" anchor="t"/>
          <a:lstStyle/>
          <a:p>
            <a:pPr marL="0" indent="0">
              <a:lnSpc>
                <a:spcPct val="112000"/>
              </a:lnSpc>
              <a:buNone/>
            </a:pPr>
            <a:r>
              <a:rPr lang="en-US" sz="1150" dirty="0">
                <a:solidFill>
                  <a:srgbClr val="555555"/>
                </a:solidFill>
                <a:latin typeface="Calibri" pitchFamily="34" charset="0"/>
                <a:ea typeface="Calibri" pitchFamily="34" charset="-122"/>
                <a:cs typeface="Calibri" pitchFamily="34" charset="-120"/>
              </a:rPr>
              <a:t>Đức chủ động bỏ qua phần mình chưa chắc. Coach cũng xác nhận có nhiều câu hỏi bị bỏ qua, không trả lời.</a:t>
            </a:r>
            <a:endParaRPr lang="en-US" sz="1150" dirty="0"/>
          </a:p>
        </p:txBody>
      </p:sp>
      <p:sp>
        <p:nvSpPr>
          <p:cNvPr id="25" name="Shape 23"/>
          <p:cNvSpPr/>
          <p:nvPr/>
        </p:nvSpPr>
        <p:spPr>
          <a:xfrm>
            <a:off x="11475720" y="6263640"/>
            <a:ext cx="457200" cy="457200"/>
          </a:xfrm>
          <a:prstGeom prst="ellipse">
            <a:avLst/>
          </a:prstGeom>
          <a:solidFill>
            <a:srgbClr val="FFFFFF"/>
          </a:solidFill>
          <a:ln w="28575">
            <a:solidFill>
              <a:srgbClr val="2B2B2B"/>
            </a:solidFill>
            <a:prstDash val="solid"/>
          </a:ln>
        </p:spPr>
      </p:sp>
      <p:sp>
        <p:nvSpPr>
          <p:cNvPr id="26" name="Text 24"/>
          <p:cNvSpPr/>
          <p:nvPr/>
        </p:nvSpPr>
        <p:spPr>
          <a:xfrm>
            <a:off x="11475720" y="6263640"/>
            <a:ext cx="457200" cy="457200"/>
          </a:xfrm>
          <a:prstGeom prst="rect">
            <a:avLst/>
          </a:prstGeom>
          <a:noFill/>
          <a:ln/>
        </p:spPr>
        <p:txBody>
          <a:bodyPr wrap="square"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20000">
            <a:off x="502920" y="411480"/>
            <a:ext cx="3566160" cy="457200"/>
          </a:xfrm>
          <a:prstGeom prst="roundRect">
            <a:avLst>
              <a:gd name="adj" fmla="val 50000"/>
            </a:avLst>
          </a:prstGeom>
          <a:solidFill>
            <a:srgbClr val="FF6B54"/>
          </a:solidFill>
          <a:ln w="25400">
            <a:solidFill>
              <a:srgbClr val="2B2B2B"/>
            </a:solidFill>
            <a:prstDash val="solid"/>
          </a:ln>
          <a:effectLst>
            <a:outerShdw blurRad="101600" dist="50800" dir="2700000" algn="bl" rotWithShape="0">
              <a:srgbClr val="2B2B2B">
                <a:alpha val="80000"/>
              </a:srgbClr>
            </a:outerShdw>
          </a:effectLst>
        </p:spPr>
      </p:sp>
      <p:sp>
        <p:nvSpPr>
          <p:cNvPr id="3" name="Text 1"/>
          <p:cNvSpPr/>
          <p:nvPr/>
        </p:nvSpPr>
        <p:spPr>
          <a:xfrm rot="-120000">
            <a:off x="502920" y="411480"/>
            <a:ext cx="3566160" cy="4572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04  ·  ĐIỀU LÀM NHÓM BẤT NGỜ</a:t>
            </a:r>
            <a:endParaRPr lang="en-US" sz="1150" dirty="0"/>
          </a:p>
        </p:txBody>
      </p:sp>
      <p:sp>
        <p:nvSpPr>
          <p:cNvPr id="4" name="Text 2"/>
          <p:cNvSpPr/>
          <p:nvPr/>
        </p:nvSpPr>
        <p:spPr>
          <a:xfrm>
            <a:off x="502920" y="960120"/>
            <a:ext cx="10789920" cy="868680"/>
          </a:xfrm>
          <a:prstGeom prst="rect">
            <a:avLst/>
          </a:prstGeom>
          <a:noFill/>
          <a:ln/>
        </p:spPr>
        <p:txBody>
          <a:bodyPr wrap="square" rtlCol="0" anchor="t"/>
          <a:lstStyle/>
          <a:p>
            <a:pPr marL="0" indent="0" algn="l">
              <a:buNone/>
            </a:pPr>
            <a:r>
              <a:rPr lang="en-US" sz="2900" b="1" dirty="0">
                <a:solidFill>
                  <a:srgbClr val="2B2B2B"/>
                </a:solidFill>
                <a:latin typeface="Calibri" pitchFamily="34" charset="0"/>
                <a:ea typeface="Calibri" pitchFamily="34" charset="-122"/>
                <a:cs typeface="Calibri" pitchFamily="34" charset="-120"/>
              </a:rPr>
              <a:t>Ba điều khiến nhóm phải nghĩ lại</a:t>
            </a:r>
            <a:endParaRPr lang="en-US" sz="2900" dirty="0"/>
          </a:p>
        </p:txBody>
      </p:sp>
      <p:sp>
        <p:nvSpPr>
          <p:cNvPr id="5" name="Shape 3"/>
          <p:cNvSpPr/>
          <p:nvPr/>
        </p:nvSpPr>
        <p:spPr>
          <a:xfrm rot="-60000">
            <a:off x="640080" y="2011680"/>
            <a:ext cx="3520440" cy="3749040"/>
          </a:xfrm>
          <a:prstGeom prst="roundRect">
            <a:avLst>
              <a:gd name="adj" fmla="val 3117"/>
            </a:avLst>
          </a:prstGeom>
          <a:solidFill>
            <a:srgbClr val="FFFFFF"/>
          </a:solidFill>
          <a:ln w="28575">
            <a:solidFill>
              <a:srgbClr val="2B2B2B"/>
            </a:solidFill>
            <a:prstDash val="solid"/>
          </a:ln>
          <a:effectLst>
            <a:outerShdw blurRad="101600" dist="63500" dir="2700000" algn="bl" rotWithShape="0">
              <a:srgbClr val="2B2B2B">
                <a:alpha val="85000"/>
              </a:srgbClr>
            </a:outerShdw>
          </a:effectLst>
        </p:spPr>
      </p:sp>
      <p:sp>
        <p:nvSpPr>
          <p:cNvPr id="6" name="Shape 4"/>
          <p:cNvSpPr/>
          <p:nvPr/>
        </p:nvSpPr>
        <p:spPr>
          <a:xfrm rot="-60000">
            <a:off x="822960" y="2212848"/>
            <a:ext cx="3154680" cy="457200"/>
          </a:xfrm>
          <a:prstGeom prst="roundRect">
            <a:avLst>
              <a:gd name="adj" fmla="val 50000"/>
            </a:avLst>
          </a:prstGeom>
          <a:solidFill>
            <a:srgbClr val="FF6B54"/>
          </a:solidFill>
          <a:ln w="25400">
            <a:solidFill>
              <a:srgbClr val="2B2B2B"/>
            </a:solidFill>
            <a:prstDash val="solid"/>
          </a:ln>
        </p:spPr>
      </p:sp>
      <p:sp>
        <p:nvSpPr>
          <p:cNvPr id="7" name="Text 5"/>
          <p:cNvSpPr/>
          <p:nvPr/>
        </p:nvSpPr>
        <p:spPr>
          <a:xfrm rot="-60000">
            <a:off x="822960" y="2212848"/>
            <a:ext cx="3154680" cy="45720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DỰ ĐOÁN BAN ĐẦU CỦA NHÓM SAI</a:t>
            </a:r>
            <a:endParaRPr lang="en-US" sz="1050" dirty="0"/>
          </a:p>
        </p:txBody>
      </p:sp>
      <p:sp>
        <p:nvSpPr>
          <p:cNvPr id="8" name="Text 6"/>
          <p:cNvSpPr/>
          <p:nvPr/>
        </p:nvSpPr>
        <p:spPr>
          <a:xfrm rot="-60000">
            <a:off x="914400" y="2880360"/>
            <a:ext cx="2971800" cy="2743200"/>
          </a:xfrm>
          <a:prstGeom prst="rect">
            <a:avLst/>
          </a:prstGeom>
          <a:noFill/>
          <a:ln/>
        </p:spPr>
        <p:txBody>
          <a:bodyPr wrap="square" rtlCol="0" anchor="t"/>
          <a:lstStyle/>
          <a:p>
            <a:pPr marL="0" indent="0">
              <a:lnSpc>
                <a:spcPct val="118000"/>
              </a:lnSpc>
              <a:buNone/>
            </a:pPr>
            <a:r>
              <a:rPr lang="en-US" sz="1300" dirty="0">
                <a:solidFill>
                  <a:srgbClr val="2B2B2B"/>
                </a:solidFill>
                <a:latin typeface="Calibri" pitchFamily="34" charset="0"/>
                <a:ea typeface="Calibri" pitchFamily="34" charset="-122"/>
                <a:cs typeface="Calibri" pitchFamily="34" charset="-120"/>
              </a:rPr>
              <a:t>Trước đó nhóm nghĩ người học không biết mình đang thiếu kiến thức gì. Nhưng Đạt và Đức đều nói rõ được đúng chỗ mình kẹt. Vấn đề thật sự không phải là không biết mình thiếu gì, mà là không có cách nào kiểm tra và hỏi lại.</a:t>
            </a:r>
            <a:endParaRPr lang="en-US" sz="1300" dirty="0"/>
          </a:p>
        </p:txBody>
      </p:sp>
      <p:sp>
        <p:nvSpPr>
          <p:cNvPr id="9" name="Shape 7"/>
          <p:cNvSpPr/>
          <p:nvPr/>
        </p:nvSpPr>
        <p:spPr>
          <a:xfrm rot="36000">
            <a:off x="4343400" y="2011680"/>
            <a:ext cx="3520440" cy="3749040"/>
          </a:xfrm>
          <a:prstGeom prst="roundRect">
            <a:avLst>
              <a:gd name="adj" fmla="val 3117"/>
            </a:avLst>
          </a:prstGeom>
          <a:solidFill>
            <a:srgbClr val="FFFFFF"/>
          </a:solidFill>
          <a:ln w="28575">
            <a:solidFill>
              <a:srgbClr val="2B2B2B"/>
            </a:solidFill>
            <a:prstDash val="solid"/>
          </a:ln>
          <a:effectLst>
            <a:outerShdw blurRad="101600" dist="63500" dir="2700000" algn="bl" rotWithShape="0">
              <a:srgbClr val="2B2B2B">
                <a:alpha val="85000"/>
              </a:srgbClr>
            </a:outerShdw>
          </a:effectLst>
        </p:spPr>
      </p:sp>
      <p:sp>
        <p:nvSpPr>
          <p:cNvPr id="10" name="Shape 8"/>
          <p:cNvSpPr/>
          <p:nvPr/>
        </p:nvSpPr>
        <p:spPr>
          <a:xfrm rot="36000">
            <a:off x="4526280" y="2212848"/>
            <a:ext cx="3154680" cy="457200"/>
          </a:xfrm>
          <a:prstGeom prst="roundRect">
            <a:avLst>
              <a:gd name="adj" fmla="val 50000"/>
            </a:avLst>
          </a:prstGeom>
          <a:solidFill>
            <a:srgbClr val="2AA39D"/>
          </a:solidFill>
          <a:ln w="25400">
            <a:solidFill>
              <a:srgbClr val="2B2B2B"/>
            </a:solidFill>
            <a:prstDash val="solid"/>
          </a:ln>
        </p:spPr>
      </p:sp>
      <p:sp>
        <p:nvSpPr>
          <p:cNvPr id="11" name="Text 9"/>
          <p:cNvSpPr/>
          <p:nvPr/>
        </p:nvSpPr>
        <p:spPr>
          <a:xfrm rot="36000">
            <a:off x="4526280" y="2212848"/>
            <a:ext cx="3154680" cy="45720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CÁCH CŨ ĐÃ THỬ VÀ KHÔNG HIỆU QUẢ</a:t>
            </a:r>
            <a:endParaRPr lang="en-US" sz="1050" dirty="0"/>
          </a:p>
        </p:txBody>
      </p:sp>
      <p:sp>
        <p:nvSpPr>
          <p:cNvPr id="12" name="Text 10"/>
          <p:cNvSpPr/>
          <p:nvPr/>
        </p:nvSpPr>
        <p:spPr>
          <a:xfrm rot="36000">
            <a:off x="4617720" y="2880360"/>
            <a:ext cx="2971800" cy="2743200"/>
          </a:xfrm>
          <a:prstGeom prst="rect">
            <a:avLst/>
          </a:prstGeom>
          <a:noFill/>
          <a:ln/>
        </p:spPr>
        <p:txBody>
          <a:bodyPr wrap="square" rtlCol="0" anchor="t"/>
          <a:lstStyle/>
          <a:p>
            <a:pPr marL="0" indent="0">
              <a:lnSpc>
                <a:spcPct val="118000"/>
              </a:lnSpc>
              <a:buNone/>
            </a:pPr>
            <a:r>
              <a:rPr lang="en-US" sz="1300" dirty="0">
                <a:solidFill>
                  <a:srgbClr val="2B2B2B"/>
                </a:solidFill>
                <a:latin typeface="Calibri" pitchFamily="34" charset="0"/>
                <a:ea typeface="Calibri" pitchFamily="34" charset="-122"/>
                <a:cs typeface="Calibri" pitchFamily="34" charset="-120"/>
              </a:rPr>
              <a:t>Ứng dụng đã có sẵn một AI trợ giảng đọc slide rồi giải thích lại. Đức đã dùng thử, nhưng thấy chưa đủ, nên vẫn phải chụp slide gửi sang ChatGPT bên ngoài.</a:t>
            </a:r>
            <a:endParaRPr lang="en-US" sz="1300" dirty="0"/>
          </a:p>
        </p:txBody>
      </p:sp>
      <p:sp>
        <p:nvSpPr>
          <p:cNvPr id="13" name="Shape 11"/>
          <p:cNvSpPr/>
          <p:nvPr/>
        </p:nvSpPr>
        <p:spPr>
          <a:xfrm rot="60000">
            <a:off x="8046720" y="2011680"/>
            <a:ext cx="3520440" cy="3749040"/>
          </a:xfrm>
          <a:prstGeom prst="roundRect">
            <a:avLst>
              <a:gd name="adj" fmla="val 3117"/>
            </a:avLst>
          </a:prstGeom>
          <a:solidFill>
            <a:srgbClr val="FFFFFF"/>
          </a:solidFill>
          <a:ln w="28575">
            <a:solidFill>
              <a:srgbClr val="2B2B2B"/>
            </a:solidFill>
            <a:prstDash val="solid"/>
          </a:ln>
          <a:effectLst>
            <a:outerShdw blurRad="101600" dist="63500" dir="2700000" algn="bl" rotWithShape="0">
              <a:srgbClr val="2B2B2B">
                <a:alpha val="85000"/>
              </a:srgbClr>
            </a:outerShdw>
          </a:effectLst>
        </p:spPr>
      </p:sp>
      <p:sp>
        <p:nvSpPr>
          <p:cNvPr id="14" name="Shape 12"/>
          <p:cNvSpPr/>
          <p:nvPr/>
        </p:nvSpPr>
        <p:spPr>
          <a:xfrm rot="60000">
            <a:off x="8229600" y="2212848"/>
            <a:ext cx="3154680" cy="457200"/>
          </a:xfrm>
          <a:prstGeom prst="roundRect">
            <a:avLst>
              <a:gd name="adj" fmla="val 50000"/>
            </a:avLst>
          </a:prstGeom>
          <a:solidFill>
            <a:srgbClr val="B9789E"/>
          </a:solidFill>
          <a:ln w="25400">
            <a:solidFill>
              <a:srgbClr val="2B2B2B"/>
            </a:solidFill>
            <a:prstDash val="solid"/>
          </a:ln>
        </p:spPr>
      </p:sp>
      <p:sp>
        <p:nvSpPr>
          <p:cNvPr id="15" name="Text 13"/>
          <p:cNvSpPr/>
          <p:nvPr/>
        </p:nvSpPr>
        <p:spPr>
          <a:xfrm rot="60000">
            <a:off x="8229600" y="2212848"/>
            <a:ext cx="3154680" cy="45720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VẤN ĐỀ KHÔNG NẰM Ở NỘI DUNG SLIDE</a:t>
            </a:r>
            <a:endParaRPr lang="en-US" sz="1050" dirty="0"/>
          </a:p>
        </p:txBody>
      </p:sp>
      <p:sp>
        <p:nvSpPr>
          <p:cNvPr id="16" name="Text 14"/>
          <p:cNvSpPr/>
          <p:nvPr/>
        </p:nvSpPr>
        <p:spPr>
          <a:xfrm rot="60000">
            <a:off x="8321040" y="2880360"/>
            <a:ext cx="2971800" cy="2743200"/>
          </a:xfrm>
          <a:prstGeom prst="rect">
            <a:avLst/>
          </a:prstGeom>
          <a:noFill/>
          <a:ln/>
        </p:spPr>
        <p:txBody>
          <a:bodyPr wrap="square" rtlCol="0" anchor="t"/>
          <a:lstStyle/>
          <a:p>
            <a:pPr marL="0" indent="0">
              <a:lnSpc>
                <a:spcPct val="118000"/>
              </a:lnSpc>
              <a:buNone/>
            </a:pPr>
            <a:r>
              <a:rPr lang="en-US" sz="1300" dirty="0">
                <a:solidFill>
                  <a:srgbClr val="2B2B2B"/>
                </a:solidFill>
                <a:latin typeface="Calibri" pitchFamily="34" charset="0"/>
                <a:ea typeface="Calibri" pitchFamily="34" charset="-122"/>
                <a:cs typeface="Calibri" pitchFamily="34" charset="-120"/>
              </a:rPr>
              <a:t>Đạt hiếm khi đọc lại slide sau giờ học. Coach cho biết câu hỏi nhiều nhất là lỗi cài đặt máy. Còn Đức chỉ dùng slide để chụp gửi hỏi AI, chứ không đọc lại.</a:t>
            </a:r>
            <a:endParaRPr lang="en-US" sz="1300" dirty="0"/>
          </a:p>
        </p:txBody>
      </p:sp>
      <p:sp>
        <p:nvSpPr>
          <p:cNvPr id="17" name="Shape 15"/>
          <p:cNvSpPr/>
          <p:nvPr/>
        </p:nvSpPr>
        <p:spPr>
          <a:xfrm>
            <a:off x="11475720" y="6263640"/>
            <a:ext cx="457200" cy="457200"/>
          </a:xfrm>
          <a:prstGeom prst="ellipse">
            <a:avLst/>
          </a:prstGeom>
          <a:solidFill>
            <a:srgbClr val="FFFFFF"/>
          </a:solidFill>
          <a:ln w="28575">
            <a:solidFill>
              <a:srgbClr val="2B2B2B"/>
            </a:solidFill>
            <a:prstDash val="solid"/>
          </a:ln>
        </p:spPr>
      </p:sp>
      <p:sp>
        <p:nvSpPr>
          <p:cNvPr id="18" name="Text 16"/>
          <p:cNvSpPr/>
          <p:nvPr/>
        </p:nvSpPr>
        <p:spPr>
          <a:xfrm>
            <a:off x="11475720" y="6263640"/>
            <a:ext cx="457200" cy="457200"/>
          </a:xfrm>
          <a:prstGeom prst="rect">
            <a:avLst/>
          </a:prstGeom>
          <a:noFill/>
          <a:ln/>
        </p:spPr>
        <p:txBody>
          <a:bodyPr wrap="square"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1" name="Shape 15">
            <a:extLst>
              <a:ext uri="{FF2B5EF4-FFF2-40B4-BE49-F238E27FC236}">
                <a16:creationId xmlns:a16="http://schemas.microsoft.com/office/drawing/2014/main" id="{A8F04926-152C-C2DB-13C9-FB84478A08C7}"/>
              </a:ext>
            </a:extLst>
          </p:cNvPr>
          <p:cNvSpPr/>
          <p:nvPr/>
        </p:nvSpPr>
        <p:spPr>
          <a:xfrm>
            <a:off x="942494" y="2945316"/>
            <a:ext cx="3063240" cy="3246120"/>
          </a:xfrm>
          <a:prstGeom prst="roundRect">
            <a:avLst>
              <a:gd name="adj" fmla="val 3582"/>
            </a:avLst>
          </a:prstGeom>
          <a:solidFill>
            <a:srgbClr val="FFFFFF"/>
          </a:solidFill>
          <a:ln w="28575">
            <a:solidFill>
              <a:srgbClr val="2B2B2B"/>
            </a:solidFill>
            <a:prstDash val="solid"/>
          </a:ln>
          <a:effectLst>
            <a:outerShdw blurRad="101600" dist="63500" dir="2700000" algn="bl" rotWithShape="0">
              <a:srgbClr val="2B2B2B">
                <a:alpha val="85000"/>
              </a:srgbClr>
            </a:outerShdw>
          </a:effectLst>
        </p:spPr>
      </p:sp>
      <p:sp>
        <p:nvSpPr>
          <p:cNvPr id="2" name="Shape 0"/>
          <p:cNvSpPr/>
          <p:nvPr/>
        </p:nvSpPr>
        <p:spPr>
          <a:xfrm rot="-120000">
            <a:off x="502920" y="411480"/>
            <a:ext cx="3566160" cy="457200"/>
          </a:xfrm>
          <a:prstGeom prst="roundRect">
            <a:avLst>
              <a:gd name="adj" fmla="val 50000"/>
            </a:avLst>
          </a:prstGeom>
          <a:solidFill>
            <a:srgbClr val="FF6B54"/>
          </a:solidFill>
          <a:ln w="25400">
            <a:solidFill>
              <a:srgbClr val="2B2B2B"/>
            </a:solidFill>
            <a:prstDash val="solid"/>
          </a:ln>
          <a:effectLst>
            <a:outerShdw blurRad="101600" dist="50800" dir="2700000" algn="bl" rotWithShape="0">
              <a:srgbClr val="2B2B2B">
                <a:alpha val="80000"/>
              </a:srgbClr>
            </a:outerShdw>
          </a:effectLst>
        </p:spPr>
      </p:sp>
      <p:sp>
        <p:nvSpPr>
          <p:cNvPr id="3" name="Text 1"/>
          <p:cNvSpPr/>
          <p:nvPr/>
        </p:nvSpPr>
        <p:spPr>
          <a:xfrm rot="-120000">
            <a:off x="502920" y="411480"/>
            <a:ext cx="3566160" cy="4572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05  ·  BA CÁCH GIẢI QUYẾT NHÓM NGHĨ RA</a:t>
            </a:r>
            <a:endParaRPr lang="en-US" sz="1150" dirty="0"/>
          </a:p>
        </p:txBody>
      </p:sp>
      <p:sp>
        <p:nvSpPr>
          <p:cNvPr id="4" name="Text 2"/>
          <p:cNvSpPr/>
          <p:nvPr/>
        </p:nvSpPr>
        <p:spPr>
          <a:xfrm>
            <a:off x="502920" y="960120"/>
            <a:ext cx="10789920" cy="640080"/>
          </a:xfrm>
          <a:prstGeom prst="rect">
            <a:avLst/>
          </a:prstGeom>
          <a:noFill/>
          <a:ln/>
        </p:spPr>
        <p:txBody>
          <a:bodyPr wrap="square" rtlCol="0" anchor="t"/>
          <a:lstStyle/>
          <a:p>
            <a:pPr marL="0" indent="0" algn="l">
              <a:buNone/>
            </a:pPr>
            <a:r>
              <a:rPr lang="en-US" sz="2400" b="1" dirty="0">
                <a:solidFill>
                  <a:srgbClr val="2B2B2B"/>
                </a:solidFill>
                <a:latin typeface="Calibri" pitchFamily="34" charset="0"/>
                <a:ea typeface="Calibri" pitchFamily="34" charset="-122"/>
                <a:cs typeface="Calibri" pitchFamily="34" charset="-120"/>
              </a:rPr>
              <a:t>Ai sẽ giúp câu trả lời trở nên đáng tin — và vào lúc nào?</a:t>
            </a:r>
            <a:endParaRPr lang="en-US" sz="2400" dirty="0"/>
          </a:p>
        </p:txBody>
      </p:sp>
      <p:sp>
        <p:nvSpPr>
          <p:cNvPr id="5" name="Text 3"/>
          <p:cNvSpPr/>
          <p:nvPr/>
        </p:nvSpPr>
        <p:spPr>
          <a:xfrm>
            <a:off x="502920" y="1554480"/>
            <a:ext cx="10789920" cy="365760"/>
          </a:xfrm>
          <a:prstGeom prst="rect">
            <a:avLst/>
          </a:prstGeom>
          <a:noFill/>
          <a:ln/>
        </p:spPr>
        <p:txBody>
          <a:bodyPr wrap="square" rtlCol="0" anchor="ctr"/>
          <a:lstStyle/>
          <a:p>
            <a:pPr marL="0" indent="0">
              <a:buNone/>
            </a:pPr>
            <a:r>
              <a:rPr lang="en-US" sz="1300" i="1" dirty="0">
                <a:solidFill>
                  <a:srgbClr val="8A8A8A"/>
                </a:solidFill>
                <a:latin typeface="Calibri" pitchFamily="34" charset="0"/>
                <a:ea typeface="Calibri" pitchFamily="34" charset="-122"/>
                <a:cs typeface="Calibri" pitchFamily="34" charset="-120"/>
              </a:rPr>
              <a:t>Cả ba cách đều dành cho cùng một người học, cùng một tình huống, cùng một bài toán — chỉ khác nhau ở cách thực hiện.</a:t>
            </a:r>
            <a:endParaRPr lang="en-US" sz="1300" dirty="0"/>
          </a:p>
        </p:txBody>
      </p:sp>
      <p:sp>
        <p:nvSpPr>
          <p:cNvPr id="6" name="Shape 4"/>
          <p:cNvSpPr/>
          <p:nvPr/>
        </p:nvSpPr>
        <p:spPr>
          <a:xfrm>
            <a:off x="914400" y="2331720"/>
            <a:ext cx="10332720" cy="54864"/>
          </a:xfrm>
          <a:prstGeom prst="rect">
            <a:avLst/>
          </a:prstGeom>
          <a:solidFill>
            <a:srgbClr val="2B2B2B"/>
          </a:solidFill>
          <a:ln/>
        </p:spPr>
      </p:sp>
      <p:sp>
        <p:nvSpPr>
          <p:cNvPr id="7" name="Shape 5"/>
          <p:cNvSpPr/>
          <p:nvPr/>
        </p:nvSpPr>
        <p:spPr>
          <a:xfrm rot="5400000">
            <a:off x="11155680" y="2148840"/>
            <a:ext cx="365760" cy="420624"/>
          </a:xfrm>
          <a:prstGeom prst="triangle">
            <a:avLst/>
          </a:prstGeom>
          <a:solidFill>
            <a:srgbClr val="2B2B2B"/>
          </a:solidFill>
          <a:ln/>
        </p:spPr>
      </p:sp>
      <p:sp>
        <p:nvSpPr>
          <p:cNvPr id="8" name="Shape 6"/>
          <p:cNvSpPr/>
          <p:nvPr/>
        </p:nvSpPr>
        <p:spPr>
          <a:xfrm>
            <a:off x="1965960" y="1965960"/>
            <a:ext cx="777240" cy="777240"/>
          </a:xfrm>
          <a:prstGeom prst="ellipse">
            <a:avLst/>
          </a:prstGeom>
          <a:solidFill>
            <a:srgbClr val="3FA34D"/>
          </a:solidFill>
          <a:ln w="31750">
            <a:solidFill>
              <a:srgbClr val="2B2B2B"/>
            </a:solidFill>
            <a:prstDash val="solid"/>
          </a:ln>
          <a:effectLst>
            <a:outerShdw blurRad="101600" dist="38100" dir="2700000" algn="bl" rotWithShape="0">
              <a:srgbClr val="2B2B2B">
                <a:alpha val="60000"/>
              </a:srgbClr>
            </a:outerShdw>
          </a:effectLst>
        </p:spPr>
      </p:sp>
      <p:sp>
        <p:nvSpPr>
          <p:cNvPr id="9" name="Text 7"/>
          <p:cNvSpPr/>
          <p:nvPr/>
        </p:nvSpPr>
        <p:spPr>
          <a:xfrm>
            <a:off x="1965960" y="1965960"/>
            <a:ext cx="777240" cy="77724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a:t>
            </a:r>
            <a:endParaRPr lang="en-US" sz="2600" dirty="0"/>
          </a:p>
        </p:txBody>
      </p:sp>
      <p:sp>
        <p:nvSpPr>
          <p:cNvPr id="11" name="Text 9"/>
          <p:cNvSpPr/>
          <p:nvPr/>
        </p:nvSpPr>
        <p:spPr>
          <a:xfrm rot="-60000">
            <a:off x="1097280" y="3127248"/>
            <a:ext cx="2697480" cy="457200"/>
          </a:xfrm>
          <a:prstGeom prst="rect">
            <a:avLst/>
          </a:prstGeom>
          <a:noFill/>
          <a:ln/>
        </p:spPr>
        <p:txBody>
          <a:bodyPr wrap="square" rtlCol="0" anchor="ctr"/>
          <a:lstStyle/>
          <a:p>
            <a:pPr marL="0" indent="0" algn="ctr">
              <a:buNone/>
            </a:pPr>
            <a:r>
              <a:rPr lang="en-US" sz="1700" b="1" dirty="0" err="1">
                <a:solidFill>
                  <a:srgbClr val="3FA34D"/>
                </a:solidFill>
                <a:latin typeface="Calibri" pitchFamily="34" charset="0"/>
                <a:ea typeface="Calibri" pitchFamily="34" charset="-122"/>
                <a:cs typeface="Calibri" pitchFamily="34" charset="-120"/>
              </a:rPr>
              <a:t>Có</a:t>
            </a:r>
            <a:r>
              <a:rPr lang="en-US" sz="1700" b="1" dirty="0">
                <a:solidFill>
                  <a:srgbClr val="3FA34D"/>
                </a:solidFill>
                <a:latin typeface="Calibri" pitchFamily="34" charset="0"/>
                <a:ea typeface="Calibri" pitchFamily="34" charset="-122"/>
                <a:cs typeface="Calibri" pitchFamily="34" charset="-120"/>
              </a:rPr>
              <a:t> </a:t>
            </a:r>
            <a:r>
              <a:rPr lang="en-US" sz="1700" b="1" dirty="0" err="1">
                <a:solidFill>
                  <a:srgbClr val="3FA34D"/>
                </a:solidFill>
                <a:latin typeface="Calibri" pitchFamily="34" charset="0"/>
                <a:ea typeface="Calibri" pitchFamily="34" charset="-122"/>
                <a:cs typeface="Calibri" pitchFamily="34" charset="-120"/>
              </a:rPr>
              <a:t>trích</a:t>
            </a:r>
            <a:r>
              <a:rPr lang="en-US" sz="1700" b="1" dirty="0">
                <a:solidFill>
                  <a:srgbClr val="3FA34D"/>
                </a:solidFill>
                <a:latin typeface="Calibri" pitchFamily="34" charset="0"/>
                <a:ea typeface="Calibri" pitchFamily="34" charset="-122"/>
                <a:cs typeface="Calibri" pitchFamily="34" charset="-120"/>
              </a:rPr>
              <a:t> </a:t>
            </a:r>
            <a:r>
              <a:rPr lang="en-US" sz="1700" b="1" dirty="0" err="1">
                <a:solidFill>
                  <a:srgbClr val="3FA34D"/>
                </a:solidFill>
                <a:latin typeface="Calibri" pitchFamily="34" charset="0"/>
                <a:ea typeface="Calibri" pitchFamily="34" charset="-122"/>
                <a:cs typeface="Calibri" pitchFamily="34" charset="-120"/>
              </a:rPr>
              <a:t>dẫn</a:t>
            </a:r>
            <a:r>
              <a:rPr lang="en-US" sz="1700" b="1" dirty="0">
                <a:solidFill>
                  <a:srgbClr val="3FA34D"/>
                </a:solidFill>
                <a:latin typeface="Calibri" pitchFamily="34" charset="0"/>
                <a:ea typeface="Calibri" pitchFamily="34" charset="-122"/>
                <a:cs typeface="Calibri" pitchFamily="34" charset="-120"/>
              </a:rPr>
              <a:t> </a:t>
            </a:r>
            <a:r>
              <a:rPr lang="en-US" sz="1700" b="1" dirty="0" err="1">
                <a:solidFill>
                  <a:srgbClr val="3FA34D"/>
                </a:solidFill>
                <a:latin typeface="Calibri" pitchFamily="34" charset="0"/>
                <a:ea typeface="Calibri" pitchFamily="34" charset="-122"/>
                <a:cs typeface="Calibri" pitchFamily="34" charset="-120"/>
              </a:rPr>
              <a:t>nguồn</a:t>
            </a:r>
            <a:endParaRPr lang="en-US" sz="1700" dirty="0"/>
          </a:p>
        </p:txBody>
      </p:sp>
      <p:sp>
        <p:nvSpPr>
          <p:cNvPr id="12" name="Text 10"/>
          <p:cNvSpPr/>
          <p:nvPr/>
        </p:nvSpPr>
        <p:spPr>
          <a:xfrm rot="-60000">
            <a:off x="1143000" y="3657600"/>
            <a:ext cx="2606040" cy="1874520"/>
          </a:xfrm>
          <a:prstGeom prst="rect">
            <a:avLst/>
          </a:prstGeom>
          <a:noFill/>
          <a:ln/>
        </p:spPr>
        <p:txBody>
          <a:bodyPr wrap="square" rtlCol="0" anchor="t"/>
          <a:lstStyle/>
          <a:p>
            <a:pPr marL="0" indent="0" algn="ctr">
              <a:lnSpc>
                <a:spcPct val="115000"/>
              </a:lnSpc>
              <a:buNone/>
            </a:pPr>
            <a:r>
              <a:rPr lang="en-US" sz="1200" dirty="0" err="1">
                <a:solidFill>
                  <a:srgbClr val="2B2B2B"/>
                </a:solidFill>
                <a:latin typeface="Calibri" pitchFamily="34" charset="0"/>
                <a:ea typeface="Calibri" pitchFamily="34" charset="-122"/>
                <a:cs typeface="Calibri" pitchFamily="34" charset="-120"/>
              </a:rPr>
              <a:t>Người</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học</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tự</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quyết</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định</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có</a:t>
            </a:r>
            <a:r>
              <a:rPr lang="en-US" sz="1200" dirty="0">
                <a:solidFill>
                  <a:srgbClr val="2B2B2B"/>
                </a:solidFill>
                <a:latin typeface="Calibri" pitchFamily="34" charset="0"/>
                <a:ea typeface="Calibri" pitchFamily="34" charset="-122"/>
                <a:cs typeface="Calibri" pitchFamily="34" charset="-120"/>
              </a:rPr>
              <a:t> tin hay </a:t>
            </a:r>
            <a:r>
              <a:rPr lang="en-US" sz="1200" dirty="0" err="1">
                <a:solidFill>
                  <a:srgbClr val="2B2B2B"/>
                </a:solidFill>
                <a:latin typeface="Calibri" pitchFamily="34" charset="0"/>
                <a:ea typeface="Calibri" pitchFamily="34" charset="-122"/>
                <a:cs typeface="Calibri" pitchFamily="34" charset="-120"/>
              </a:rPr>
              <a:t>không</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Mỗi</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câu</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trả</a:t>
            </a:r>
            <a:r>
              <a:rPr lang="en-US" sz="1200" dirty="0">
                <a:solidFill>
                  <a:srgbClr val="2B2B2B"/>
                </a:solidFill>
                <a:latin typeface="Calibri" pitchFamily="34" charset="0"/>
                <a:ea typeface="Calibri" pitchFamily="34" charset="-122"/>
                <a:cs typeface="Calibri" pitchFamily="34" charset="-120"/>
              </a:rPr>
              <a:t> li </a:t>
            </a:r>
            <a:r>
              <a:rPr lang="en-US" sz="1200" dirty="0" err="1">
                <a:solidFill>
                  <a:srgbClr val="2B2B2B"/>
                </a:solidFill>
                <a:latin typeface="Calibri" pitchFamily="34" charset="0"/>
                <a:ea typeface="Calibri" pitchFamily="34" charset="-122"/>
                <a:cs typeface="Calibri" pitchFamily="34" charset="-120"/>
              </a:rPr>
              <a:t>đều</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có</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trích</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dẫn</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từ</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tài</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liệu</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khóa</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học</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chỗ</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nào</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không</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có</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trong</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tài</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liệu</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thì</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được</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ghi</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rõ</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ra.</a:t>
            </a:r>
            <a:endParaRPr lang="en-US" sz="1200" dirty="0"/>
          </a:p>
        </p:txBody>
      </p:sp>
      <p:sp>
        <p:nvSpPr>
          <p:cNvPr id="13" name="Shape 11"/>
          <p:cNvSpPr/>
          <p:nvPr/>
        </p:nvSpPr>
        <p:spPr>
          <a:xfrm rot="-60000">
            <a:off x="1143000" y="5577840"/>
            <a:ext cx="2606040" cy="502920"/>
          </a:xfrm>
          <a:prstGeom prst="roundRect">
            <a:avLst>
              <a:gd name="adj" fmla="val 50000"/>
            </a:avLst>
          </a:prstGeom>
          <a:solidFill>
            <a:srgbClr val="EDEDED"/>
          </a:solidFill>
          <a:ln w="25400">
            <a:solidFill>
              <a:srgbClr val="2B2B2B"/>
            </a:solidFill>
            <a:prstDash val="solid"/>
          </a:ln>
        </p:spPr>
      </p:sp>
      <p:sp>
        <p:nvSpPr>
          <p:cNvPr id="14" name="Text 12"/>
          <p:cNvSpPr/>
          <p:nvPr/>
        </p:nvSpPr>
        <p:spPr>
          <a:xfrm rot="-60000">
            <a:off x="1143000" y="5577840"/>
            <a:ext cx="2606040" cy="502920"/>
          </a:xfrm>
          <a:prstGeom prst="rect">
            <a:avLst/>
          </a:prstGeom>
          <a:noFill/>
          <a:ln/>
        </p:spPr>
        <p:txBody>
          <a:bodyPr wrap="square" rtlCol="0" anchor="ctr"/>
          <a:lstStyle/>
          <a:p>
            <a:pPr marL="0" indent="0" algn="ctr">
              <a:buNone/>
            </a:pPr>
            <a:r>
              <a:rPr lang="en-US" sz="1050" b="1" dirty="0" err="1">
                <a:solidFill>
                  <a:srgbClr val="2B2B2B"/>
                </a:solidFill>
                <a:latin typeface="Calibri" pitchFamily="34" charset="0"/>
                <a:ea typeface="Calibri" pitchFamily="34" charset="-122"/>
                <a:cs typeface="Calibri" pitchFamily="34" charset="-120"/>
              </a:rPr>
              <a:t>Người</a:t>
            </a:r>
            <a:r>
              <a:rPr lang="en-US" sz="1050" b="1" dirty="0">
                <a:solidFill>
                  <a:srgbClr val="2B2B2B"/>
                </a:solidFill>
                <a:latin typeface="Calibri" pitchFamily="34" charset="0"/>
                <a:ea typeface="Calibri" pitchFamily="34" charset="-122"/>
                <a:cs typeface="Calibri" pitchFamily="34" charset="-120"/>
              </a:rPr>
              <a:t> </a:t>
            </a:r>
            <a:r>
              <a:rPr lang="en-US" sz="1050" b="1" dirty="0" err="1">
                <a:solidFill>
                  <a:srgbClr val="2B2B2B"/>
                </a:solidFill>
                <a:latin typeface="Calibri" pitchFamily="34" charset="0"/>
                <a:ea typeface="Calibri" pitchFamily="34" charset="-122"/>
                <a:cs typeface="Calibri" pitchFamily="34" charset="-120"/>
              </a:rPr>
              <a:t>học</a:t>
            </a:r>
            <a:r>
              <a:rPr lang="en-US" sz="1050" b="1" dirty="0">
                <a:solidFill>
                  <a:srgbClr val="2B2B2B"/>
                </a:solidFill>
                <a:latin typeface="Calibri" pitchFamily="34" charset="0"/>
                <a:ea typeface="Calibri" pitchFamily="34" charset="-122"/>
                <a:cs typeface="Calibri" pitchFamily="34" charset="-120"/>
              </a:rPr>
              <a:t> </a:t>
            </a:r>
            <a:r>
              <a:rPr lang="en-US" sz="1050" b="1" dirty="0" err="1">
                <a:solidFill>
                  <a:srgbClr val="2B2B2B"/>
                </a:solidFill>
                <a:latin typeface="Calibri" pitchFamily="34" charset="0"/>
                <a:ea typeface="Calibri" pitchFamily="34" charset="-122"/>
                <a:cs typeface="Calibri" pitchFamily="34" charset="-120"/>
              </a:rPr>
              <a:t>tự</a:t>
            </a:r>
            <a:r>
              <a:rPr lang="en-US" sz="1050" b="1" dirty="0">
                <a:solidFill>
                  <a:srgbClr val="2B2B2B"/>
                </a:solidFill>
                <a:latin typeface="Calibri" pitchFamily="34" charset="0"/>
                <a:ea typeface="Calibri" pitchFamily="34" charset="-122"/>
                <a:cs typeface="Calibri" pitchFamily="34" charset="-120"/>
              </a:rPr>
              <a:t> </a:t>
            </a:r>
            <a:r>
              <a:rPr lang="en-US" sz="1050" b="1" dirty="0" err="1">
                <a:solidFill>
                  <a:srgbClr val="2B2B2B"/>
                </a:solidFill>
                <a:latin typeface="Calibri" pitchFamily="34" charset="0"/>
                <a:ea typeface="Calibri" pitchFamily="34" charset="-122"/>
                <a:cs typeface="Calibri" pitchFamily="34" charset="-120"/>
              </a:rPr>
              <a:t>kiểm</a:t>
            </a:r>
            <a:r>
              <a:rPr lang="en-US" sz="1050" b="1" dirty="0">
                <a:solidFill>
                  <a:srgbClr val="2B2B2B"/>
                </a:solidFill>
                <a:latin typeface="Calibri" pitchFamily="34" charset="0"/>
                <a:ea typeface="Calibri" pitchFamily="34" charset="-122"/>
                <a:cs typeface="Calibri" pitchFamily="34" charset="-120"/>
              </a:rPr>
              <a:t> </a:t>
            </a:r>
            <a:r>
              <a:rPr lang="en-US" sz="1050" b="1" dirty="0" err="1">
                <a:solidFill>
                  <a:srgbClr val="2B2B2B"/>
                </a:solidFill>
                <a:latin typeface="Calibri" pitchFamily="34" charset="0"/>
                <a:ea typeface="Calibri" pitchFamily="34" charset="-122"/>
                <a:cs typeface="Calibri" pitchFamily="34" charset="-120"/>
              </a:rPr>
              <a:t>tra</a:t>
            </a:r>
            <a:endParaRPr lang="en-US" sz="1050" dirty="0"/>
          </a:p>
        </p:txBody>
      </p:sp>
      <p:sp>
        <p:nvSpPr>
          <p:cNvPr id="16" name="Text 14"/>
          <p:cNvSpPr/>
          <p:nvPr/>
        </p:nvSpPr>
        <p:spPr>
          <a:xfrm>
            <a:off x="5486400" y="1965960"/>
            <a:ext cx="777240" cy="77724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B</a:t>
            </a:r>
            <a:endParaRPr lang="en-US" sz="2600" dirty="0"/>
          </a:p>
        </p:txBody>
      </p:sp>
      <p:sp>
        <p:nvSpPr>
          <p:cNvPr id="18" name="Text 16"/>
          <p:cNvSpPr/>
          <p:nvPr/>
        </p:nvSpPr>
        <p:spPr>
          <a:xfrm>
            <a:off x="4617720" y="3127248"/>
            <a:ext cx="2697480" cy="457200"/>
          </a:xfrm>
          <a:prstGeom prst="rect">
            <a:avLst/>
          </a:prstGeom>
          <a:noFill/>
          <a:ln/>
        </p:spPr>
        <p:txBody>
          <a:bodyPr wrap="square" rtlCol="0" anchor="ctr"/>
          <a:lstStyle/>
          <a:p>
            <a:pPr marL="0" indent="0" algn="ctr">
              <a:buNone/>
            </a:pPr>
            <a:endParaRPr lang="en-US" sz="1700" dirty="0"/>
          </a:p>
        </p:txBody>
      </p:sp>
      <p:sp>
        <p:nvSpPr>
          <p:cNvPr id="19" name="Text 17"/>
          <p:cNvSpPr/>
          <p:nvPr/>
        </p:nvSpPr>
        <p:spPr>
          <a:xfrm>
            <a:off x="4663440" y="3657600"/>
            <a:ext cx="2606040" cy="1874520"/>
          </a:xfrm>
          <a:prstGeom prst="rect">
            <a:avLst/>
          </a:prstGeom>
          <a:noFill/>
          <a:ln/>
        </p:spPr>
        <p:txBody>
          <a:bodyPr wrap="square" rtlCol="0" anchor="t"/>
          <a:lstStyle/>
          <a:p>
            <a:pPr marL="0" indent="0" algn="ctr">
              <a:lnSpc>
                <a:spcPct val="115000"/>
              </a:lnSpc>
              <a:buNone/>
            </a:pPr>
            <a:endParaRPr lang="en-US" sz="1200" dirty="0"/>
          </a:p>
        </p:txBody>
      </p:sp>
      <p:sp>
        <p:nvSpPr>
          <p:cNvPr id="21" name="Text 19"/>
          <p:cNvSpPr/>
          <p:nvPr/>
        </p:nvSpPr>
        <p:spPr>
          <a:xfrm>
            <a:off x="4663440" y="5577840"/>
            <a:ext cx="2606040" cy="502920"/>
          </a:xfrm>
          <a:prstGeom prst="rect">
            <a:avLst/>
          </a:prstGeom>
          <a:noFill/>
          <a:ln/>
        </p:spPr>
        <p:txBody>
          <a:bodyPr wrap="square" rtlCol="0" anchor="ctr"/>
          <a:lstStyle/>
          <a:p>
            <a:pPr marL="0" indent="0" algn="ctr">
              <a:buNone/>
            </a:pPr>
            <a:endParaRPr lang="en-US" sz="1050" dirty="0"/>
          </a:p>
        </p:txBody>
      </p:sp>
      <p:sp>
        <p:nvSpPr>
          <p:cNvPr id="23" name="Text 21"/>
          <p:cNvSpPr/>
          <p:nvPr/>
        </p:nvSpPr>
        <p:spPr>
          <a:xfrm>
            <a:off x="9006840" y="1965960"/>
            <a:ext cx="777240" cy="77724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C</a:t>
            </a:r>
            <a:endParaRPr lang="en-US" sz="2600" dirty="0"/>
          </a:p>
        </p:txBody>
      </p:sp>
      <p:sp>
        <p:nvSpPr>
          <p:cNvPr id="25" name="Text 23"/>
          <p:cNvSpPr/>
          <p:nvPr/>
        </p:nvSpPr>
        <p:spPr>
          <a:xfrm rot="60000">
            <a:off x="8138160" y="3127248"/>
            <a:ext cx="2697480" cy="457200"/>
          </a:xfrm>
          <a:prstGeom prst="rect">
            <a:avLst/>
          </a:prstGeom>
          <a:noFill/>
          <a:ln/>
        </p:spPr>
        <p:txBody>
          <a:bodyPr wrap="square" rtlCol="0" anchor="ctr"/>
          <a:lstStyle/>
          <a:p>
            <a:pPr marL="0" indent="0" algn="ctr">
              <a:buNone/>
            </a:pPr>
            <a:endParaRPr lang="en-US" sz="1700" dirty="0"/>
          </a:p>
        </p:txBody>
      </p:sp>
      <p:sp>
        <p:nvSpPr>
          <p:cNvPr id="26" name="Text 24"/>
          <p:cNvSpPr/>
          <p:nvPr/>
        </p:nvSpPr>
        <p:spPr>
          <a:xfrm rot="60000">
            <a:off x="8183880" y="3657600"/>
            <a:ext cx="2606040" cy="1874520"/>
          </a:xfrm>
          <a:prstGeom prst="rect">
            <a:avLst/>
          </a:prstGeom>
          <a:noFill/>
          <a:ln/>
        </p:spPr>
        <p:txBody>
          <a:bodyPr wrap="square" rtlCol="0" anchor="t"/>
          <a:lstStyle/>
          <a:p>
            <a:pPr marL="0" indent="0" algn="ctr">
              <a:lnSpc>
                <a:spcPct val="115000"/>
              </a:lnSpc>
              <a:buNone/>
            </a:pPr>
            <a:endParaRPr lang="en-US" sz="1200" dirty="0"/>
          </a:p>
        </p:txBody>
      </p:sp>
      <p:sp>
        <p:nvSpPr>
          <p:cNvPr id="28" name="Text 26"/>
          <p:cNvSpPr/>
          <p:nvPr/>
        </p:nvSpPr>
        <p:spPr>
          <a:xfrm rot="60000">
            <a:off x="8183880" y="5577840"/>
            <a:ext cx="2606040" cy="502920"/>
          </a:xfrm>
          <a:prstGeom prst="rect">
            <a:avLst/>
          </a:prstGeom>
          <a:noFill/>
          <a:ln/>
        </p:spPr>
        <p:txBody>
          <a:bodyPr wrap="square" rtlCol="0" anchor="ctr"/>
          <a:lstStyle/>
          <a:p>
            <a:pPr marL="0" indent="0" algn="ctr">
              <a:buNone/>
            </a:pPr>
            <a:endParaRPr lang="en-US" sz="1050" dirty="0"/>
          </a:p>
        </p:txBody>
      </p:sp>
      <p:sp>
        <p:nvSpPr>
          <p:cNvPr id="29" name="Shape 27"/>
          <p:cNvSpPr/>
          <p:nvPr/>
        </p:nvSpPr>
        <p:spPr>
          <a:xfrm>
            <a:off x="11475720" y="6263640"/>
            <a:ext cx="457200" cy="457200"/>
          </a:xfrm>
          <a:prstGeom prst="ellipse">
            <a:avLst/>
          </a:prstGeom>
          <a:solidFill>
            <a:srgbClr val="FFFFFF"/>
          </a:solidFill>
          <a:ln w="28575">
            <a:solidFill>
              <a:srgbClr val="2B2B2B"/>
            </a:solidFill>
            <a:prstDash val="solid"/>
          </a:ln>
        </p:spPr>
      </p:sp>
      <p:sp>
        <p:nvSpPr>
          <p:cNvPr id="30" name="Text 28"/>
          <p:cNvSpPr/>
          <p:nvPr/>
        </p:nvSpPr>
        <p:spPr>
          <a:xfrm>
            <a:off x="11475720" y="6263640"/>
            <a:ext cx="457200" cy="457200"/>
          </a:xfrm>
          <a:prstGeom prst="rect">
            <a:avLst/>
          </a:prstGeom>
          <a:noFill/>
          <a:ln/>
        </p:spPr>
        <p:txBody>
          <a:bodyPr wrap="square"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6</a:t>
            </a:r>
            <a:endParaRPr lang="en-US" sz="1300" dirty="0"/>
          </a:p>
        </p:txBody>
      </p:sp>
      <p:pic>
        <p:nvPicPr>
          <p:cNvPr id="33" name="Picture 32">
            <a:extLst>
              <a:ext uri="{FF2B5EF4-FFF2-40B4-BE49-F238E27FC236}">
                <a16:creationId xmlns:a16="http://schemas.microsoft.com/office/drawing/2014/main" id="{9E560C3C-7A81-3DB2-8285-FDC793F5DFC1}"/>
              </a:ext>
            </a:extLst>
          </p:cNvPr>
          <p:cNvPicPr>
            <a:picLocks noChangeAspect="1"/>
          </p:cNvPicPr>
          <p:nvPr/>
        </p:nvPicPr>
        <p:blipFill>
          <a:blip r:embed="rId3"/>
          <a:stretch>
            <a:fillRect/>
          </a:stretch>
        </p:blipFill>
        <p:spPr>
          <a:xfrm>
            <a:off x="4202049" y="1920240"/>
            <a:ext cx="7772400" cy="482842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2F535F1-ED10-E12F-392D-51A5CF41048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F596948-3F01-5A4A-A412-FFE2233DC551}"/>
              </a:ext>
            </a:extLst>
          </p:cNvPr>
          <p:cNvSpPr/>
          <p:nvPr/>
        </p:nvSpPr>
        <p:spPr>
          <a:xfrm rot="-120000">
            <a:off x="502920" y="411480"/>
            <a:ext cx="3566160" cy="457200"/>
          </a:xfrm>
          <a:prstGeom prst="roundRect">
            <a:avLst>
              <a:gd name="adj" fmla="val 50000"/>
            </a:avLst>
          </a:prstGeom>
          <a:solidFill>
            <a:srgbClr val="FF6B54"/>
          </a:solidFill>
          <a:ln w="25400">
            <a:solidFill>
              <a:srgbClr val="2B2B2B"/>
            </a:solidFill>
            <a:prstDash val="solid"/>
          </a:ln>
          <a:effectLst>
            <a:outerShdw blurRad="101600" dist="50800" dir="2700000" algn="bl" rotWithShape="0">
              <a:srgbClr val="2B2B2B">
                <a:alpha val="80000"/>
              </a:srgbClr>
            </a:outerShdw>
          </a:effectLst>
        </p:spPr>
      </p:sp>
      <p:sp>
        <p:nvSpPr>
          <p:cNvPr id="3" name="Text 1">
            <a:extLst>
              <a:ext uri="{FF2B5EF4-FFF2-40B4-BE49-F238E27FC236}">
                <a16:creationId xmlns:a16="http://schemas.microsoft.com/office/drawing/2014/main" id="{C79CF91A-A5BD-F9C5-240E-D0CCD0492FE5}"/>
              </a:ext>
            </a:extLst>
          </p:cNvPr>
          <p:cNvSpPr/>
          <p:nvPr/>
        </p:nvSpPr>
        <p:spPr>
          <a:xfrm rot="-120000">
            <a:off x="502920" y="411480"/>
            <a:ext cx="3566160" cy="4572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05  ·  BA CÁCH GIẢI QUYẾT NHÓM NGHĨ RA</a:t>
            </a:r>
            <a:endParaRPr lang="en-US" sz="1150" dirty="0"/>
          </a:p>
        </p:txBody>
      </p:sp>
      <p:sp>
        <p:nvSpPr>
          <p:cNvPr id="4" name="Text 2">
            <a:extLst>
              <a:ext uri="{FF2B5EF4-FFF2-40B4-BE49-F238E27FC236}">
                <a16:creationId xmlns:a16="http://schemas.microsoft.com/office/drawing/2014/main" id="{50F9C889-028A-BE94-3A56-9540049BF146}"/>
              </a:ext>
            </a:extLst>
          </p:cNvPr>
          <p:cNvSpPr/>
          <p:nvPr/>
        </p:nvSpPr>
        <p:spPr>
          <a:xfrm>
            <a:off x="502920" y="960120"/>
            <a:ext cx="10789920" cy="640080"/>
          </a:xfrm>
          <a:prstGeom prst="rect">
            <a:avLst/>
          </a:prstGeom>
          <a:noFill/>
          <a:ln/>
        </p:spPr>
        <p:txBody>
          <a:bodyPr wrap="square" rtlCol="0" anchor="t"/>
          <a:lstStyle/>
          <a:p>
            <a:pPr marL="0" indent="0" algn="l">
              <a:buNone/>
            </a:pPr>
            <a:r>
              <a:rPr lang="en-US" sz="2400" b="1" dirty="0">
                <a:solidFill>
                  <a:srgbClr val="2B2B2B"/>
                </a:solidFill>
                <a:latin typeface="Calibri" pitchFamily="34" charset="0"/>
                <a:ea typeface="Calibri" pitchFamily="34" charset="-122"/>
                <a:cs typeface="Calibri" pitchFamily="34" charset="-120"/>
              </a:rPr>
              <a:t>Ai sẽ giúp câu trả lời trở nên đáng tin — và vào lúc nào?</a:t>
            </a:r>
            <a:endParaRPr lang="en-US" sz="2400" dirty="0"/>
          </a:p>
        </p:txBody>
      </p:sp>
      <p:sp>
        <p:nvSpPr>
          <p:cNvPr id="5" name="Text 3">
            <a:extLst>
              <a:ext uri="{FF2B5EF4-FFF2-40B4-BE49-F238E27FC236}">
                <a16:creationId xmlns:a16="http://schemas.microsoft.com/office/drawing/2014/main" id="{EE3A342D-0FDE-F6C5-A06C-46BEA46A05CE}"/>
              </a:ext>
            </a:extLst>
          </p:cNvPr>
          <p:cNvSpPr/>
          <p:nvPr/>
        </p:nvSpPr>
        <p:spPr>
          <a:xfrm>
            <a:off x="502920" y="1554480"/>
            <a:ext cx="10789920" cy="365760"/>
          </a:xfrm>
          <a:prstGeom prst="rect">
            <a:avLst/>
          </a:prstGeom>
          <a:noFill/>
          <a:ln/>
        </p:spPr>
        <p:txBody>
          <a:bodyPr wrap="square" rtlCol="0" anchor="ctr"/>
          <a:lstStyle/>
          <a:p>
            <a:pPr marL="0" indent="0">
              <a:buNone/>
            </a:pPr>
            <a:r>
              <a:rPr lang="en-US" sz="1300" i="1" dirty="0">
                <a:solidFill>
                  <a:srgbClr val="8A8A8A"/>
                </a:solidFill>
                <a:latin typeface="Calibri" pitchFamily="34" charset="0"/>
                <a:ea typeface="Calibri" pitchFamily="34" charset="-122"/>
                <a:cs typeface="Calibri" pitchFamily="34" charset="-120"/>
              </a:rPr>
              <a:t>Cả ba cách đều dành cho cùng một người học, cùng một tình huống, cùng một bài toán — chỉ khác nhau ở cách thực hiện.</a:t>
            </a:r>
            <a:endParaRPr lang="en-US" sz="1300" dirty="0"/>
          </a:p>
        </p:txBody>
      </p:sp>
      <p:sp>
        <p:nvSpPr>
          <p:cNvPr id="6" name="Shape 4">
            <a:extLst>
              <a:ext uri="{FF2B5EF4-FFF2-40B4-BE49-F238E27FC236}">
                <a16:creationId xmlns:a16="http://schemas.microsoft.com/office/drawing/2014/main" id="{3C333CE3-E3B2-0063-D5D2-EB3050156AE6}"/>
              </a:ext>
            </a:extLst>
          </p:cNvPr>
          <p:cNvSpPr/>
          <p:nvPr/>
        </p:nvSpPr>
        <p:spPr>
          <a:xfrm>
            <a:off x="914400" y="2331720"/>
            <a:ext cx="10332720" cy="54864"/>
          </a:xfrm>
          <a:prstGeom prst="rect">
            <a:avLst/>
          </a:prstGeom>
          <a:solidFill>
            <a:srgbClr val="2B2B2B"/>
          </a:solidFill>
          <a:ln/>
        </p:spPr>
      </p:sp>
      <p:sp>
        <p:nvSpPr>
          <p:cNvPr id="7" name="Shape 5">
            <a:extLst>
              <a:ext uri="{FF2B5EF4-FFF2-40B4-BE49-F238E27FC236}">
                <a16:creationId xmlns:a16="http://schemas.microsoft.com/office/drawing/2014/main" id="{C4B6F2DE-55B3-C8C4-401F-332064B231D5}"/>
              </a:ext>
            </a:extLst>
          </p:cNvPr>
          <p:cNvSpPr/>
          <p:nvPr/>
        </p:nvSpPr>
        <p:spPr>
          <a:xfrm rot="5400000">
            <a:off x="11155680" y="2148840"/>
            <a:ext cx="365760" cy="420624"/>
          </a:xfrm>
          <a:prstGeom prst="triangle">
            <a:avLst/>
          </a:prstGeom>
          <a:solidFill>
            <a:srgbClr val="2B2B2B"/>
          </a:solidFill>
          <a:ln/>
        </p:spPr>
      </p:sp>
      <p:sp>
        <p:nvSpPr>
          <p:cNvPr id="9" name="Text 7">
            <a:extLst>
              <a:ext uri="{FF2B5EF4-FFF2-40B4-BE49-F238E27FC236}">
                <a16:creationId xmlns:a16="http://schemas.microsoft.com/office/drawing/2014/main" id="{8E1A3D3F-5357-7096-DE2D-D0B0F2DB261A}"/>
              </a:ext>
            </a:extLst>
          </p:cNvPr>
          <p:cNvSpPr/>
          <p:nvPr/>
        </p:nvSpPr>
        <p:spPr>
          <a:xfrm>
            <a:off x="1965960" y="1965960"/>
            <a:ext cx="777240" cy="77724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a:t>
            </a:r>
            <a:endParaRPr lang="en-US" sz="2600" dirty="0"/>
          </a:p>
        </p:txBody>
      </p:sp>
      <p:sp>
        <p:nvSpPr>
          <p:cNvPr id="11" name="Text 9">
            <a:extLst>
              <a:ext uri="{FF2B5EF4-FFF2-40B4-BE49-F238E27FC236}">
                <a16:creationId xmlns:a16="http://schemas.microsoft.com/office/drawing/2014/main" id="{AD446EF3-F187-094E-3265-143190F59AB6}"/>
              </a:ext>
            </a:extLst>
          </p:cNvPr>
          <p:cNvSpPr/>
          <p:nvPr/>
        </p:nvSpPr>
        <p:spPr>
          <a:xfrm rot="-60000">
            <a:off x="1097280" y="3127248"/>
            <a:ext cx="2697480" cy="457200"/>
          </a:xfrm>
          <a:prstGeom prst="rect">
            <a:avLst/>
          </a:prstGeom>
          <a:noFill/>
          <a:ln/>
        </p:spPr>
        <p:txBody>
          <a:bodyPr wrap="square" rtlCol="0" anchor="ctr"/>
          <a:lstStyle/>
          <a:p>
            <a:pPr marL="0" indent="0" algn="ctr">
              <a:buNone/>
            </a:pPr>
            <a:endParaRPr lang="en-US" sz="1700" dirty="0"/>
          </a:p>
        </p:txBody>
      </p:sp>
      <p:sp>
        <p:nvSpPr>
          <p:cNvPr id="12" name="Text 10">
            <a:extLst>
              <a:ext uri="{FF2B5EF4-FFF2-40B4-BE49-F238E27FC236}">
                <a16:creationId xmlns:a16="http://schemas.microsoft.com/office/drawing/2014/main" id="{AC545D9A-344B-D232-64C7-DB37CC2A135A}"/>
              </a:ext>
            </a:extLst>
          </p:cNvPr>
          <p:cNvSpPr/>
          <p:nvPr/>
        </p:nvSpPr>
        <p:spPr>
          <a:xfrm rot="-60000">
            <a:off x="1143000" y="3657600"/>
            <a:ext cx="2606040" cy="1874520"/>
          </a:xfrm>
          <a:prstGeom prst="rect">
            <a:avLst/>
          </a:prstGeom>
          <a:noFill/>
          <a:ln/>
        </p:spPr>
        <p:txBody>
          <a:bodyPr wrap="square" rtlCol="0" anchor="t"/>
          <a:lstStyle/>
          <a:p>
            <a:pPr marL="0" indent="0" algn="ctr">
              <a:lnSpc>
                <a:spcPct val="115000"/>
              </a:lnSpc>
              <a:buNone/>
            </a:pPr>
            <a:endParaRPr lang="en-US" sz="1200" dirty="0"/>
          </a:p>
        </p:txBody>
      </p:sp>
      <p:sp>
        <p:nvSpPr>
          <p:cNvPr id="14" name="Text 12">
            <a:extLst>
              <a:ext uri="{FF2B5EF4-FFF2-40B4-BE49-F238E27FC236}">
                <a16:creationId xmlns:a16="http://schemas.microsoft.com/office/drawing/2014/main" id="{41898F2B-33F4-F30A-BFC2-F5A2E029D001}"/>
              </a:ext>
            </a:extLst>
          </p:cNvPr>
          <p:cNvSpPr/>
          <p:nvPr/>
        </p:nvSpPr>
        <p:spPr>
          <a:xfrm rot="-60000">
            <a:off x="1143000" y="5577840"/>
            <a:ext cx="2606040" cy="502920"/>
          </a:xfrm>
          <a:prstGeom prst="rect">
            <a:avLst/>
          </a:prstGeom>
          <a:noFill/>
          <a:ln/>
        </p:spPr>
        <p:txBody>
          <a:bodyPr wrap="square" rtlCol="0" anchor="ctr"/>
          <a:lstStyle/>
          <a:p>
            <a:pPr marL="0" indent="0" algn="ctr">
              <a:buNone/>
            </a:pPr>
            <a:endParaRPr lang="en-US" sz="1050" dirty="0"/>
          </a:p>
        </p:txBody>
      </p:sp>
      <p:sp>
        <p:nvSpPr>
          <p:cNvPr id="15" name="Shape 13">
            <a:extLst>
              <a:ext uri="{FF2B5EF4-FFF2-40B4-BE49-F238E27FC236}">
                <a16:creationId xmlns:a16="http://schemas.microsoft.com/office/drawing/2014/main" id="{FDF53E8E-18A9-AEE9-7771-7ED4EBE2C3B1}"/>
              </a:ext>
            </a:extLst>
          </p:cNvPr>
          <p:cNvSpPr/>
          <p:nvPr/>
        </p:nvSpPr>
        <p:spPr>
          <a:xfrm>
            <a:off x="1965960" y="1993009"/>
            <a:ext cx="777240" cy="777240"/>
          </a:xfrm>
          <a:prstGeom prst="ellipse">
            <a:avLst/>
          </a:prstGeom>
          <a:solidFill>
            <a:srgbClr val="5B9BD5"/>
          </a:solidFill>
          <a:ln w="31750">
            <a:solidFill>
              <a:srgbClr val="2B2B2B"/>
            </a:solidFill>
            <a:prstDash val="solid"/>
          </a:ln>
          <a:effectLst>
            <a:outerShdw blurRad="101600" dist="38100" dir="2700000" algn="bl" rotWithShape="0">
              <a:srgbClr val="2B2B2B">
                <a:alpha val="60000"/>
              </a:srgbClr>
            </a:outerShdw>
          </a:effectLst>
        </p:spPr>
      </p:sp>
      <p:sp>
        <p:nvSpPr>
          <p:cNvPr id="16" name="Text 14">
            <a:extLst>
              <a:ext uri="{FF2B5EF4-FFF2-40B4-BE49-F238E27FC236}">
                <a16:creationId xmlns:a16="http://schemas.microsoft.com/office/drawing/2014/main" id="{02BDE332-DA19-E62F-F7D8-5060D18252E6}"/>
              </a:ext>
            </a:extLst>
          </p:cNvPr>
          <p:cNvSpPr/>
          <p:nvPr/>
        </p:nvSpPr>
        <p:spPr>
          <a:xfrm>
            <a:off x="1970649" y="1979485"/>
            <a:ext cx="777240" cy="77724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B</a:t>
            </a:r>
            <a:endParaRPr lang="en-US" sz="2600" dirty="0"/>
          </a:p>
        </p:txBody>
      </p:sp>
      <p:grpSp>
        <p:nvGrpSpPr>
          <p:cNvPr id="10" name="Group 9">
            <a:extLst>
              <a:ext uri="{FF2B5EF4-FFF2-40B4-BE49-F238E27FC236}">
                <a16:creationId xmlns:a16="http://schemas.microsoft.com/office/drawing/2014/main" id="{84F164EE-D2F6-A99F-4EA2-83DC91BDEF5B}"/>
              </a:ext>
            </a:extLst>
          </p:cNvPr>
          <p:cNvGrpSpPr/>
          <p:nvPr/>
        </p:nvGrpSpPr>
        <p:grpSpPr>
          <a:xfrm>
            <a:off x="822960" y="3081911"/>
            <a:ext cx="3063240" cy="3246120"/>
            <a:chOff x="4434840" y="2971800"/>
            <a:chExt cx="3063240" cy="3246120"/>
          </a:xfrm>
        </p:grpSpPr>
        <p:sp>
          <p:nvSpPr>
            <p:cNvPr id="17" name="Shape 15">
              <a:extLst>
                <a:ext uri="{FF2B5EF4-FFF2-40B4-BE49-F238E27FC236}">
                  <a16:creationId xmlns:a16="http://schemas.microsoft.com/office/drawing/2014/main" id="{A262034D-26D5-95B2-71D3-48AAF627DE69}"/>
                </a:ext>
              </a:extLst>
            </p:cNvPr>
            <p:cNvSpPr/>
            <p:nvPr/>
          </p:nvSpPr>
          <p:spPr>
            <a:xfrm>
              <a:off x="4434840" y="2971800"/>
              <a:ext cx="3063240" cy="3246120"/>
            </a:xfrm>
            <a:prstGeom prst="roundRect">
              <a:avLst>
                <a:gd name="adj" fmla="val 3582"/>
              </a:avLst>
            </a:prstGeom>
            <a:solidFill>
              <a:srgbClr val="FFFFFF"/>
            </a:solidFill>
            <a:ln w="28575">
              <a:solidFill>
                <a:srgbClr val="2B2B2B"/>
              </a:solidFill>
              <a:prstDash val="solid"/>
            </a:ln>
            <a:effectLst>
              <a:outerShdw blurRad="101600" dist="63500" dir="2700000" algn="bl" rotWithShape="0">
                <a:srgbClr val="2B2B2B">
                  <a:alpha val="85000"/>
                </a:srgbClr>
              </a:outerShdw>
            </a:effectLst>
          </p:spPr>
        </p:sp>
        <p:sp>
          <p:nvSpPr>
            <p:cNvPr id="18" name="Text 16">
              <a:extLst>
                <a:ext uri="{FF2B5EF4-FFF2-40B4-BE49-F238E27FC236}">
                  <a16:creationId xmlns:a16="http://schemas.microsoft.com/office/drawing/2014/main" id="{50C3C67F-6380-94EF-0286-85D11B38151D}"/>
                </a:ext>
              </a:extLst>
            </p:cNvPr>
            <p:cNvSpPr/>
            <p:nvPr/>
          </p:nvSpPr>
          <p:spPr>
            <a:xfrm>
              <a:off x="4617720" y="3127248"/>
              <a:ext cx="2697480" cy="457200"/>
            </a:xfrm>
            <a:prstGeom prst="rect">
              <a:avLst/>
            </a:prstGeom>
            <a:noFill/>
            <a:ln/>
          </p:spPr>
          <p:txBody>
            <a:bodyPr wrap="square" rtlCol="0" anchor="ctr"/>
            <a:lstStyle/>
            <a:p>
              <a:pPr marL="0" indent="0" algn="ctr">
                <a:buNone/>
              </a:pPr>
              <a:r>
                <a:rPr lang="en-US" sz="1700" b="1" dirty="0">
                  <a:solidFill>
                    <a:srgbClr val="5B9BD5"/>
                  </a:solidFill>
                  <a:latin typeface="Calibri" pitchFamily="34" charset="0"/>
                  <a:ea typeface="Calibri" pitchFamily="34" charset="-122"/>
                  <a:cs typeface="Calibri" pitchFamily="34" charset="-120"/>
                </a:rPr>
                <a:t>AI </a:t>
              </a:r>
              <a:r>
                <a:rPr lang="en-US" sz="1700" b="1" dirty="0" err="1">
                  <a:solidFill>
                    <a:srgbClr val="5B9BD5"/>
                  </a:solidFill>
                  <a:latin typeface="Calibri" pitchFamily="34" charset="0"/>
                  <a:ea typeface="Calibri" pitchFamily="34" charset="-122"/>
                  <a:cs typeface="Calibri" pitchFamily="34" charset="-120"/>
                </a:rPr>
                <a:t>tự</a:t>
              </a:r>
              <a:r>
                <a:rPr lang="en-US" sz="1700" b="1" dirty="0">
                  <a:solidFill>
                    <a:srgbClr val="5B9BD5"/>
                  </a:solidFill>
                  <a:latin typeface="Calibri" pitchFamily="34" charset="0"/>
                  <a:ea typeface="Calibri" pitchFamily="34" charset="-122"/>
                  <a:cs typeface="Calibri" pitchFamily="34" charset="-120"/>
                </a:rPr>
                <a:t> </a:t>
              </a:r>
              <a:r>
                <a:rPr lang="en-US" sz="1700" b="1" dirty="0" err="1">
                  <a:solidFill>
                    <a:srgbClr val="5B9BD5"/>
                  </a:solidFill>
                  <a:latin typeface="Calibri" pitchFamily="34" charset="0"/>
                  <a:ea typeface="Calibri" pitchFamily="34" charset="-122"/>
                  <a:cs typeface="Calibri" pitchFamily="34" charset="-120"/>
                </a:rPr>
                <a:t>đánh</a:t>
              </a:r>
              <a:r>
                <a:rPr lang="en-US" sz="1700" b="1" dirty="0">
                  <a:solidFill>
                    <a:srgbClr val="5B9BD5"/>
                  </a:solidFill>
                  <a:latin typeface="Calibri" pitchFamily="34" charset="0"/>
                  <a:ea typeface="Calibri" pitchFamily="34" charset="-122"/>
                  <a:cs typeface="Calibri" pitchFamily="34" charset="-120"/>
                </a:rPr>
                <a:t> </a:t>
              </a:r>
              <a:r>
                <a:rPr lang="en-US" sz="1700" b="1" dirty="0" err="1">
                  <a:solidFill>
                    <a:srgbClr val="5B9BD5"/>
                  </a:solidFill>
                  <a:latin typeface="Calibri" pitchFamily="34" charset="0"/>
                  <a:ea typeface="Calibri" pitchFamily="34" charset="-122"/>
                  <a:cs typeface="Calibri" pitchFamily="34" charset="-120"/>
                </a:rPr>
                <a:t>giá</a:t>
              </a:r>
              <a:endParaRPr lang="en-US" sz="1700" dirty="0"/>
            </a:p>
          </p:txBody>
        </p:sp>
        <p:sp>
          <p:nvSpPr>
            <p:cNvPr id="19" name="Text 17">
              <a:extLst>
                <a:ext uri="{FF2B5EF4-FFF2-40B4-BE49-F238E27FC236}">
                  <a16:creationId xmlns:a16="http://schemas.microsoft.com/office/drawing/2014/main" id="{4AAC2DA1-DD4C-78F9-9245-83A53B5F9BE1}"/>
                </a:ext>
              </a:extLst>
            </p:cNvPr>
            <p:cNvSpPr/>
            <p:nvPr/>
          </p:nvSpPr>
          <p:spPr>
            <a:xfrm>
              <a:off x="4663440" y="3657600"/>
              <a:ext cx="2606040" cy="1874520"/>
            </a:xfrm>
            <a:prstGeom prst="rect">
              <a:avLst/>
            </a:prstGeom>
            <a:noFill/>
            <a:ln/>
          </p:spPr>
          <p:txBody>
            <a:bodyPr wrap="square" rtlCol="0" anchor="t"/>
            <a:lstStyle/>
            <a:p>
              <a:pPr marL="0" indent="0" algn="ctr">
                <a:lnSpc>
                  <a:spcPct val="115000"/>
                </a:lnSpc>
                <a:buNone/>
              </a:pPr>
              <a:r>
                <a:rPr lang="en-US" sz="1200" dirty="0">
                  <a:solidFill>
                    <a:srgbClr val="2B2B2B"/>
                  </a:solidFill>
                  <a:latin typeface="Calibri" pitchFamily="34" charset="0"/>
                  <a:ea typeface="Calibri" pitchFamily="34" charset="-122"/>
                  <a:cs typeface="Calibri" pitchFamily="34" charset="-120"/>
                </a:rPr>
                <a:t>AI </a:t>
              </a:r>
              <a:r>
                <a:rPr lang="en-US" sz="1200" dirty="0" err="1">
                  <a:solidFill>
                    <a:srgbClr val="2B2B2B"/>
                  </a:solidFill>
                  <a:latin typeface="Calibri" pitchFamily="34" charset="0"/>
                  <a:ea typeface="Calibri" pitchFamily="34" charset="-122"/>
                  <a:cs typeface="Calibri" pitchFamily="34" charset="-120"/>
                </a:rPr>
                <a:t>tự</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đánh</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giá</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xem</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mình</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chắc</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chắn</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tới</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đâu</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Nếu</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không</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chắc</a:t>
              </a:r>
              <a:r>
                <a:rPr lang="en-US" sz="1200" dirty="0">
                  <a:solidFill>
                    <a:srgbClr val="2B2B2B"/>
                  </a:solidFill>
                  <a:latin typeface="Calibri" pitchFamily="34" charset="0"/>
                  <a:ea typeface="Calibri" pitchFamily="34" charset="-122"/>
                  <a:cs typeface="Calibri" pitchFamily="34" charset="-120"/>
                </a:rPr>
                <a:t>, AI </a:t>
              </a:r>
              <a:r>
                <a:rPr lang="en-US" sz="1200" dirty="0" err="1">
                  <a:solidFill>
                    <a:srgbClr val="2B2B2B"/>
                  </a:solidFill>
                  <a:latin typeface="Calibri" pitchFamily="34" charset="0"/>
                  <a:ea typeface="Calibri" pitchFamily="34" charset="-122"/>
                  <a:cs typeface="Calibri" pitchFamily="34" charset="-120"/>
                </a:rPr>
                <a:t>sẽ</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đề</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nghị</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gửi</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câu</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hỏi</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cho</a:t>
              </a:r>
              <a:r>
                <a:rPr lang="en-US" sz="1200" dirty="0">
                  <a:solidFill>
                    <a:srgbClr val="2B2B2B"/>
                  </a:solidFill>
                  <a:latin typeface="Calibri" pitchFamily="34" charset="0"/>
                  <a:ea typeface="Calibri" pitchFamily="34" charset="-122"/>
                  <a:cs typeface="Calibri" pitchFamily="34" charset="-120"/>
                </a:rPr>
                <a:t> coach (</a:t>
              </a:r>
              <a:r>
                <a:rPr lang="en-US" sz="1200" dirty="0" err="1">
                  <a:solidFill>
                    <a:srgbClr val="2B2B2B"/>
                  </a:solidFill>
                  <a:latin typeface="Calibri" pitchFamily="34" charset="0"/>
                  <a:ea typeface="Calibri" pitchFamily="34" charset="-122"/>
                  <a:cs typeface="Calibri" pitchFamily="34" charset="-120"/>
                </a:rPr>
                <a:t>ẩn</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danh</a:t>
              </a:r>
              <a:r>
                <a:rPr lang="en-US" sz="1200" dirty="0">
                  <a:solidFill>
                    <a:srgbClr val="2B2B2B"/>
                  </a:solidFill>
                  <a:latin typeface="Calibri" pitchFamily="34" charset="0"/>
                  <a:ea typeface="Calibri" pitchFamily="34" charset="-122"/>
                  <a:cs typeface="Calibri" pitchFamily="34" charset="-120"/>
                </a:rPr>
                <a:t>).</a:t>
              </a:r>
              <a:endParaRPr lang="en-US" sz="1200" dirty="0"/>
            </a:p>
          </p:txBody>
        </p:sp>
        <p:sp>
          <p:nvSpPr>
            <p:cNvPr id="20" name="Shape 18">
              <a:extLst>
                <a:ext uri="{FF2B5EF4-FFF2-40B4-BE49-F238E27FC236}">
                  <a16:creationId xmlns:a16="http://schemas.microsoft.com/office/drawing/2014/main" id="{7C9F95EB-D275-1273-7413-DF572690D431}"/>
                </a:ext>
              </a:extLst>
            </p:cNvPr>
            <p:cNvSpPr/>
            <p:nvPr/>
          </p:nvSpPr>
          <p:spPr>
            <a:xfrm>
              <a:off x="4663440" y="5577840"/>
              <a:ext cx="2606040" cy="502920"/>
            </a:xfrm>
            <a:prstGeom prst="roundRect">
              <a:avLst>
                <a:gd name="adj" fmla="val 50000"/>
              </a:avLst>
            </a:prstGeom>
            <a:solidFill>
              <a:srgbClr val="EDEDED"/>
            </a:solidFill>
            <a:ln w="25400">
              <a:solidFill>
                <a:srgbClr val="2B2B2B"/>
              </a:solidFill>
              <a:prstDash val="solid"/>
            </a:ln>
          </p:spPr>
        </p:sp>
        <p:sp>
          <p:nvSpPr>
            <p:cNvPr id="21" name="Text 19">
              <a:extLst>
                <a:ext uri="{FF2B5EF4-FFF2-40B4-BE49-F238E27FC236}">
                  <a16:creationId xmlns:a16="http://schemas.microsoft.com/office/drawing/2014/main" id="{4468E840-8307-83F8-D9A3-693AF69BE67D}"/>
                </a:ext>
              </a:extLst>
            </p:cNvPr>
            <p:cNvSpPr/>
            <p:nvPr/>
          </p:nvSpPr>
          <p:spPr>
            <a:xfrm>
              <a:off x="4663440" y="5577840"/>
              <a:ext cx="2606040" cy="502920"/>
            </a:xfrm>
            <a:prstGeom prst="rect">
              <a:avLst/>
            </a:prstGeom>
            <a:noFill/>
            <a:ln/>
          </p:spPr>
          <p:txBody>
            <a:bodyPr wrap="square" rtlCol="0" anchor="ctr"/>
            <a:lstStyle/>
            <a:p>
              <a:pPr marL="0" indent="0" algn="ctr">
                <a:buNone/>
              </a:pPr>
              <a:r>
                <a:rPr lang="en-US" sz="1050" b="1" dirty="0" err="1">
                  <a:solidFill>
                    <a:srgbClr val="2B2B2B"/>
                  </a:solidFill>
                  <a:latin typeface="Calibri" pitchFamily="34" charset="0"/>
                  <a:ea typeface="Calibri" pitchFamily="34" charset="-122"/>
                  <a:cs typeface="Calibri" pitchFamily="34" charset="-120"/>
                </a:rPr>
                <a:t>Người</a:t>
              </a:r>
              <a:r>
                <a:rPr lang="en-US" sz="1050" b="1" dirty="0">
                  <a:solidFill>
                    <a:srgbClr val="2B2B2B"/>
                  </a:solidFill>
                  <a:latin typeface="Calibri" pitchFamily="34" charset="0"/>
                  <a:ea typeface="Calibri" pitchFamily="34" charset="-122"/>
                  <a:cs typeface="Calibri" pitchFamily="34" charset="-120"/>
                </a:rPr>
                <a:t> </a:t>
              </a:r>
              <a:r>
                <a:rPr lang="en-US" sz="1050" b="1" dirty="0" err="1">
                  <a:solidFill>
                    <a:srgbClr val="2B2B2B"/>
                  </a:solidFill>
                  <a:latin typeface="Calibri" pitchFamily="34" charset="0"/>
                  <a:ea typeface="Calibri" pitchFamily="34" charset="-122"/>
                  <a:cs typeface="Calibri" pitchFamily="34" charset="-120"/>
                </a:rPr>
                <a:t>học</a:t>
              </a:r>
              <a:r>
                <a:rPr lang="en-US" sz="1050" b="1" dirty="0">
                  <a:solidFill>
                    <a:srgbClr val="2B2B2B"/>
                  </a:solidFill>
                  <a:latin typeface="Calibri" pitchFamily="34" charset="0"/>
                  <a:ea typeface="Calibri" pitchFamily="34" charset="-122"/>
                  <a:cs typeface="Calibri" pitchFamily="34" charset="-120"/>
                </a:rPr>
                <a:t> </a:t>
              </a:r>
              <a:r>
                <a:rPr lang="en-US" sz="1050" b="1" dirty="0" err="1">
                  <a:solidFill>
                    <a:srgbClr val="2B2B2B"/>
                  </a:solidFill>
                  <a:latin typeface="Calibri" pitchFamily="34" charset="0"/>
                  <a:ea typeface="Calibri" pitchFamily="34" charset="-122"/>
                  <a:cs typeface="Calibri" pitchFamily="34" charset="-120"/>
                </a:rPr>
                <a:t>và</a:t>
              </a:r>
              <a:r>
                <a:rPr lang="en-US" sz="1050" b="1" dirty="0">
                  <a:solidFill>
                    <a:srgbClr val="2B2B2B"/>
                  </a:solidFill>
                  <a:latin typeface="Calibri" pitchFamily="34" charset="0"/>
                  <a:ea typeface="Calibri" pitchFamily="34" charset="-122"/>
                  <a:cs typeface="Calibri" pitchFamily="34" charset="-120"/>
                </a:rPr>
                <a:t> AI </a:t>
              </a:r>
              <a:r>
                <a:rPr lang="en-US" sz="1050" b="1" dirty="0" err="1">
                  <a:solidFill>
                    <a:srgbClr val="2B2B2B"/>
                  </a:solidFill>
                  <a:latin typeface="Calibri" pitchFamily="34" charset="0"/>
                  <a:ea typeface="Calibri" pitchFamily="34" charset="-122"/>
                  <a:cs typeface="Calibri" pitchFamily="34" charset="-120"/>
                </a:rPr>
                <a:t>cùng</a:t>
              </a:r>
              <a:r>
                <a:rPr lang="en-US" sz="1050" b="1" dirty="0">
                  <a:solidFill>
                    <a:srgbClr val="2B2B2B"/>
                  </a:solidFill>
                  <a:latin typeface="Calibri" pitchFamily="34" charset="0"/>
                  <a:ea typeface="Calibri" pitchFamily="34" charset="-122"/>
                  <a:cs typeface="Calibri" pitchFamily="34" charset="-120"/>
                </a:rPr>
                <a:t> </a:t>
              </a:r>
              <a:r>
                <a:rPr lang="en-US" sz="1050" b="1" dirty="0" err="1">
                  <a:solidFill>
                    <a:srgbClr val="2B2B2B"/>
                  </a:solidFill>
                  <a:latin typeface="Calibri" pitchFamily="34" charset="0"/>
                  <a:ea typeface="Calibri" pitchFamily="34" charset="-122"/>
                  <a:cs typeface="Calibri" pitchFamily="34" charset="-120"/>
                </a:rPr>
                <a:t>quyết</a:t>
              </a:r>
              <a:r>
                <a:rPr lang="en-US" sz="1050" b="1" dirty="0">
                  <a:solidFill>
                    <a:srgbClr val="2B2B2B"/>
                  </a:solidFill>
                  <a:latin typeface="Calibri" pitchFamily="34" charset="0"/>
                  <a:ea typeface="Calibri" pitchFamily="34" charset="-122"/>
                  <a:cs typeface="Calibri" pitchFamily="34" charset="-120"/>
                </a:rPr>
                <a:t> </a:t>
              </a:r>
              <a:r>
                <a:rPr lang="en-US" sz="1050" b="1" dirty="0" err="1">
                  <a:solidFill>
                    <a:srgbClr val="2B2B2B"/>
                  </a:solidFill>
                  <a:latin typeface="Calibri" pitchFamily="34" charset="0"/>
                  <a:ea typeface="Calibri" pitchFamily="34" charset="-122"/>
                  <a:cs typeface="Calibri" pitchFamily="34" charset="-120"/>
                </a:rPr>
                <a:t>định</a:t>
              </a:r>
              <a:endParaRPr lang="en-US" sz="1050" dirty="0"/>
            </a:p>
          </p:txBody>
        </p:sp>
      </p:grpSp>
      <p:sp>
        <p:nvSpPr>
          <p:cNvPr id="23" name="Text 21">
            <a:extLst>
              <a:ext uri="{FF2B5EF4-FFF2-40B4-BE49-F238E27FC236}">
                <a16:creationId xmlns:a16="http://schemas.microsoft.com/office/drawing/2014/main" id="{83B6A2B1-DDF3-21B0-CD05-6DA2A6E4694B}"/>
              </a:ext>
            </a:extLst>
          </p:cNvPr>
          <p:cNvSpPr/>
          <p:nvPr/>
        </p:nvSpPr>
        <p:spPr>
          <a:xfrm>
            <a:off x="9006840" y="1965960"/>
            <a:ext cx="777240" cy="777240"/>
          </a:xfrm>
          <a:prstGeom prst="rect">
            <a:avLst/>
          </a:prstGeom>
          <a:noFill/>
          <a:ln/>
        </p:spPr>
        <p:txBody>
          <a:bodyPr wrap="square" rtlCol="0" anchor="ctr"/>
          <a:lstStyle/>
          <a:p>
            <a:pPr marL="0" indent="0" algn="ctr">
              <a:buNone/>
            </a:pPr>
            <a:endParaRPr lang="en-US" sz="2600" dirty="0"/>
          </a:p>
        </p:txBody>
      </p:sp>
      <p:sp>
        <p:nvSpPr>
          <p:cNvPr id="25" name="Text 23">
            <a:extLst>
              <a:ext uri="{FF2B5EF4-FFF2-40B4-BE49-F238E27FC236}">
                <a16:creationId xmlns:a16="http://schemas.microsoft.com/office/drawing/2014/main" id="{CA916582-9F36-C1DE-5D67-68FBC82DF88B}"/>
              </a:ext>
            </a:extLst>
          </p:cNvPr>
          <p:cNvSpPr/>
          <p:nvPr/>
        </p:nvSpPr>
        <p:spPr>
          <a:xfrm rot="60000">
            <a:off x="8138160" y="3127248"/>
            <a:ext cx="2697480" cy="457200"/>
          </a:xfrm>
          <a:prstGeom prst="rect">
            <a:avLst/>
          </a:prstGeom>
          <a:noFill/>
          <a:ln/>
        </p:spPr>
        <p:txBody>
          <a:bodyPr wrap="square" rtlCol="0" anchor="ctr"/>
          <a:lstStyle/>
          <a:p>
            <a:pPr marL="0" indent="0" algn="ctr">
              <a:buNone/>
            </a:pPr>
            <a:endParaRPr lang="en-US" sz="1700" dirty="0"/>
          </a:p>
        </p:txBody>
      </p:sp>
      <p:sp>
        <p:nvSpPr>
          <p:cNvPr id="26" name="Text 24">
            <a:extLst>
              <a:ext uri="{FF2B5EF4-FFF2-40B4-BE49-F238E27FC236}">
                <a16:creationId xmlns:a16="http://schemas.microsoft.com/office/drawing/2014/main" id="{74C9A61B-A66A-8015-5FAC-8C2E8F2B8D20}"/>
              </a:ext>
            </a:extLst>
          </p:cNvPr>
          <p:cNvSpPr/>
          <p:nvPr/>
        </p:nvSpPr>
        <p:spPr>
          <a:xfrm rot="60000">
            <a:off x="8183880" y="3657600"/>
            <a:ext cx="2606040" cy="1874520"/>
          </a:xfrm>
          <a:prstGeom prst="rect">
            <a:avLst/>
          </a:prstGeom>
          <a:noFill/>
          <a:ln/>
        </p:spPr>
        <p:txBody>
          <a:bodyPr wrap="square" rtlCol="0" anchor="t"/>
          <a:lstStyle/>
          <a:p>
            <a:pPr marL="0" indent="0" algn="ctr">
              <a:lnSpc>
                <a:spcPct val="115000"/>
              </a:lnSpc>
              <a:buNone/>
            </a:pPr>
            <a:endParaRPr lang="en-US" sz="1200" dirty="0"/>
          </a:p>
        </p:txBody>
      </p:sp>
      <p:sp>
        <p:nvSpPr>
          <p:cNvPr id="28" name="Text 26">
            <a:extLst>
              <a:ext uri="{FF2B5EF4-FFF2-40B4-BE49-F238E27FC236}">
                <a16:creationId xmlns:a16="http://schemas.microsoft.com/office/drawing/2014/main" id="{CDFD1DD0-A6F1-088B-DBDF-93077D4625A4}"/>
              </a:ext>
            </a:extLst>
          </p:cNvPr>
          <p:cNvSpPr/>
          <p:nvPr/>
        </p:nvSpPr>
        <p:spPr>
          <a:xfrm rot="60000">
            <a:off x="8183880" y="5577840"/>
            <a:ext cx="2606040" cy="502920"/>
          </a:xfrm>
          <a:prstGeom prst="rect">
            <a:avLst/>
          </a:prstGeom>
          <a:noFill/>
          <a:ln/>
        </p:spPr>
        <p:txBody>
          <a:bodyPr wrap="square" rtlCol="0" anchor="ctr"/>
          <a:lstStyle/>
          <a:p>
            <a:pPr marL="0" indent="0" algn="ctr">
              <a:buNone/>
            </a:pPr>
            <a:endParaRPr lang="en-US" sz="1050" dirty="0"/>
          </a:p>
        </p:txBody>
      </p:sp>
      <p:sp>
        <p:nvSpPr>
          <p:cNvPr id="29" name="Shape 27">
            <a:extLst>
              <a:ext uri="{FF2B5EF4-FFF2-40B4-BE49-F238E27FC236}">
                <a16:creationId xmlns:a16="http://schemas.microsoft.com/office/drawing/2014/main" id="{634E11A9-B0C9-1038-118B-EC2767884679}"/>
              </a:ext>
            </a:extLst>
          </p:cNvPr>
          <p:cNvSpPr/>
          <p:nvPr/>
        </p:nvSpPr>
        <p:spPr>
          <a:xfrm>
            <a:off x="11475720" y="6263640"/>
            <a:ext cx="457200" cy="457200"/>
          </a:xfrm>
          <a:prstGeom prst="ellipse">
            <a:avLst/>
          </a:prstGeom>
          <a:solidFill>
            <a:srgbClr val="FFFFFF"/>
          </a:solidFill>
          <a:ln w="28575">
            <a:solidFill>
              <a:srgbClr val="2B2B2B"/>
            </a:solidFill>
            <a:prstDash val="solid"/>
          </a:ln>
        </p:spPr>
      </p:sp>
      <p:sp>
        <p:nvSpPr>
          <p:cNvPr id="30" name="Text 28">
            <a:extLst>
              <a:ext uri="{FF2B5EF4-FFF2-40B4-BE49-F238E27FC236}">
                <a16:creationId xmlns:a16="http://schemas.microsoft.com/office/drawing/2014/main" id="{BCC7BCEA-49F8-5A8E-F89D-35D2C7DD5979}"/>
              </a:ext>
            </a:extLst>
          </p:cNvPr>
          <p:cNvSpPr/>
          <p:nvPr/>
        </p:nvSpPr>
        <p:spPr>
          <a:xfrm>
            <a:off x="11475720" y="6263640"/>
            <a:ext cx="457200" cy="457200"/>
          </a:xfrm>
          <a:prstGeom prst="rect">
            <a:avLst/>
          </a:prstGeom>
          <a:noFill/>
          <a:ln/>
        </p:spPr>
        <p:txBody>
          <a:bodyPr wrap="square"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6</a:t>
            </a:r>
            <a:endParaRPr lang="en-US" sz="1300" dirty="0"/>
          </a:p>
        </p:txBody>
      </p:sp>
      <p:pic>
        <p:nvPicPr>
          <p:cNvPr id="33" name="Picture 32">
            <a:extLst>
              <a:ext uri="{FF2B5EF4-FFF2-40B4-BE49-F238E27FC236}">
                <a16:creationId xmlns:a16="http://schemas.microsoft.com/office/drawing/2014/main" id="{5632ED21-3DF0-A1FE-8338-8605D693D4E5}"/>
              </a:ext>
            </a:extLst>
          </p:cNvPr>
          <p:cNvPicPr>
            <a:picLocks noChangeAspect="1"/>
          </p:cNvPicPr>
          <p:nvPr/>
        </p:nvPicPr>
        <p:blipFill>
          <a:blip r:embed="rId3"/>
          <a:stretch>
            <a:fillRect/>
          </a:stretch>
        </p:blipFill>
        <p:spPr>
          <a:xfrm>
            <a:off x="4160520" y="1916722"/>
            <a:ext cx="7940564" cy="4804117"/>
          </a:xfrm>
          <a:prstGeom prst="rect">
            <a:avLst/>
          </a:prstGeom>
        </p:spPr>
      </p:pic>
    </p:spTree>
    <p:extLst>
      <p:ext uri="{BB962C8B-B14F-4D97-AF65-F5344CB8AC3E}">
        <p14:creationId xmlns:p14="http://schemas.microsoft.com/office/powerpoint/2010/main" val="13485172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338BD10-74B2-446D-658F-E72636B51A7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9C88F5C-F3E1-65EB-A59D-69DCE91BC44A}"/>
              </a:ext>
            </a:extLst>
          </p:cNvPr>
          <p:cNvSpPr/>
          <p:nvPr/>
        </p:nvSpPr>
        <p:spPr>
          <a:xfrm rot="-120000">
            <a:off x="502920" y="411480"/>
            <a:ext cx="3566160" cy="457200"/>
          </a:xfrm>
          <a:prstGeom prst="roundRect">
            <a:avLst>
              <a:gd name="adj" fmla="val 50000"/>
            </a:avLst>
          </a:prstGeom>
          <a:solidFill>
            <a:srgbClr val="FF6B54"/>
          </a:solidFill>
          <a:ln w="25400">
            <a:solidFill>
              <a:srgbClr val="2B2B2B"/>
            </a:solidFill>
            <a:prstDash val="solid"/>
          </a:ln>
          <a:effectLst>
            <a:outerShdw blurRad="101600" dist="50800" dir="2700000" algn="bl" rotWithShape="0">
              <a:srgbClr val="2B2B2B">
                <a:alpha val="80000"/>
              </a:srgbClr>
            </a:outerShdw>
          </a:effectLst>
        </p:spPr>
      </p:sp>
      <p:sp>
        <p:nvSpPr>
          <p:cNvPr id="3" name="Text 1">
            <a:extLst>
              <a:ext uri="{FF2B5EF4-FFF2-40B4-BE49-F238E27FC236}">
                <a16:creationId xmlns:a16="http://schemas.microsoft.com/office/drawing/2014/main" id="{50AAA166-A78F-0651-AB02-11D0548F703A}"/>
              </a:ext>
            </a:extLst>
          </p:cNvPr>
          <p:cNvSpPr/>
          <p:nvPr/>
        </p:nvSpPr>
        <p:spPr>
          <a:xfrm rot="-120000">
            <a:off x="502920" y="411480"/>
            <a:ext cx="3566160" cy="4572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05  ·  BA CÁCH GIẢI QUYẾT NHÓM NGHĨ RA</a:t>
            </a:r>
            <a:endParaRPr lang="en-US" sz="1150" dirty="0"/>
          </a:p>
        </p:txBody>
      </p:sp>
      <p:sp>
        <p:nvSpPr>
          <p:cNvPr id="4" name="Text 2">
            <a:extLst>
              <a:ext uri="{FF2B5EF4-FFF2-40B4-BE49-F238E27FC236}">
                <a16:creationId xmlns:a16="http://schemas.microsoft.com/office/drawing/2014/main" id="{44E826E5-86A8-50B2-3584-6A3CEA4285B8}"/>
              </a:ext>
            </a:extLst>
          </p:cNvPr>
          <p:cNvSpPr/>
          <p:nvPr/>
        </p:nvSpPr>
        <p:spPr>
          <a:xfrm>
            <a:off x="502920" y="960120"/>
            <a:ext cx="10789920" cy="640080"/>
          </a:xfrm>
          <a:prstGeom prst="rect">
            <a:avLst/>
          </a:prstGeom>
          <a:noFill/>
          <a:ln/>
        </p:spPr>
        <p:txBody>
          <a:bodyPr wrap="square" rtlCol="0" anchor="t"/>
          <a:lstStyle/>
          <a:p>
            <a:pPr marL="0" indent="0" algn="l">
              <a:buNone/>
            </a:pPr>
            <a:r>
              <a:rPr lang="en-US" sz="2400" b="1" dirty="0">
                <a:solidFill>
                  <a:srgbClr val="2B2B2B"/>
                </a:solidFill>
                <a:latin typeface="Calibri" pitchFamily="34" charset="0"/>
                <a:ea typeface="Calibri" pitchFamily="34" charset="-122"/>
                <a:cs typeface="Calibri" pitchFamily="34" charset="-120"/>
              </a:rPr>
              <a:t>Ai sẽ giúp câu trả lời trở nên đáng tin — và vào lúc nào?</a:t>
            </a:r>
            <a:endParaRPr lang="en-US" sz="2400" dirty="0"/>
          </a:p>
        </p:txBody>
      </p:sp>
      <p:sp>
        <p:nvSpPr>
          <p:cNvPr id="5" name="Text 3">
            <a:extLst>
              <a:ext uri="{FF2B5EF4-FFF2-40B4-BE49-F238E27FC236}">
                <a16:creationId xmlns:a16="http://schemas.microsoft.com/office/drawing/2014/main" id="{F55FC793-7B15-9AD4-BAA8-506D18D7B8D4}"/>
              </a:ext>
            </a:extLst>
          </p:cNvPr>
          <p:cNvSpPr/>
          <p:nvPr/>
        </p:nvSpPr>
        <p:spPr>
          <a:xfrm>
            <a:off x="502920" y="1554480"/>
            <a:ext cx="10789920" cy="365760"/>
          </a:xfrm>
          <a:prstGeom prst="rect">
            <a:avLst/>
          </a:prstGeom>
          <a:noFill/>
          <a:ln/>
        </p:spPr>
        <p:txBody>
          <a:bodyPr wrap="square" rtlCol="0" anchor="ctr"/>
          <a:lstStyle/>
          <a:p>
            <a:pPr marL="0" indent="0">
              <a:buNone/>
            </a:pPr>
            <a:r>
              <a:rPr lang="en-US" sz="1300" i="1" dirty="0">
                <a:solidFill>
                  <a:srgbClr val="8A8A8A"/>
                </a:solidFill>
                <a:latin typeface="Calibri" pitchFamily="34" charset="0"/>
                <a:ea typeface="Calibri" pitchFamily="34" charset="-122"/>
                <a:cs typeface="Calibri" pitchFamily="34" charset="-120"/>
              </a:rPr>
              <a:t>Cả ba cách đều dành cho cùng một người học, cùng một tình huống, cùng một bài toán — chỉ khác nhau ở cách thực hiện.</a:t>
            </a:r>
            <a:endParaRPr lang="en-US" sz="1300" dirty="0"/>
          </a:p>
        </p:txBody>
      </p:sp>
      <p:sp>
        <p:nvSpPr>
          <p:cNvPr id="6" name="Shape 4">
            <a:extLst>
              <a:ext uri="{FF2B5EF4-FFF2-40B4-BE49-F238E27FC236}">
                <a16:creationId xmlns:a16="http://schemas.microsoft.com/office/drawing/2014/main" id="{2A057FCF-7056-F8BF-747B-384B79799D9D}"/>
              </a:ext>
            </a:extLst>
          </p:cNvPr>
          <p:cNvSpPr/>
          <p:nvPr/>
        </p:nvSpPr>
        <p:spPr>
          <a:xfrm>
            <a:off x="914400" y="2331720"/>
            <a:ext cx="10332720" cy="54864"/>
          </a:xfrm>
          <a:prstGeom prst="rect">
            <a:avLst/>
          </a:prstGeom>
          <a:solidFill>
            <a:srgbClr val="2B2B2B"/>
          </a:solidFill>
          <a:ln/>
        </p:spPr>
      </p:sp>
      <p:sp>
        <p:nvSpPr>
          <p:cNvPr id="7" name="Shape 5">
            <a:extLst>
              <a:ext uri="{FF2B5EF4-FFF2-40B4-BE49-F238E27FC236}">
                <a16:creationId xmlns:a16="http://schemas.microsoft.com/office/drawing/2014/main" id="{52F16275-6DB8-1BBC-96E5-14C793B39946}"/>
              </a:ext>
            </a:extLst>
          </p:cNvPr>
          <p:cNvSpPr/>
          <p:nvPr/>
        </p:nvSpPr>
        <p:spPr>
          <a:xfrm rot="5400000">
            <a:off x="11155680" y="2148840"/>
            <a:ext cx="365760" cy="420624"/>
          </a:xfrm>
          <a:prstGeom prst="triangle">
            <a:avLst/>
          </a:prstGeom>
          <a:solidFill>
            <a:srgbClr val="2B2B2B"/>
          </a:solidFill>
          <a:ln/>
        </p:spPr>
      </p:sp>
      <p:sp>
        <p:nvSpPr>
          <p:cNvPr id="9" name="Text 7">
            <a:extLst>
              <a:ext uri="{FF2B5EF4-FFF2-40B4-BE49-F238E27FC236}">
                <a16:creationId xmlns:a16="http://schemas.microsoft.com/office/drawing/2014/main" id="{A4609363-76ED-EA52-ACB1-F810BECBB988}"/>
              </a:ext>
            </a:extLst>
          </p:cNvPr>
          <p:cNvSpPr/>
          <p:nvPr/>
        </p:nvSpPr>
        <p:spPr>
          <a:xfrm>
            <a:off x="1965960" y="1965960"/>
            <a:ext cx="777240" cy="777240"/>
          </a:xfrm>
          <a:prstGeom prst="rect">
            <a:avLst/>
          </a:prstGeom>
          <a:noFill/>
          <a:ln/>
        </p:spPr>
        <p:txBody>
          <a:bodyPr wrap="square" rtlCol="0" anchor="ctr"/>
          <a:lstStyle/>
          <a:p>
            <a:pPr marL="0" indent="0" algn="ctr">
              <a:buNone/>
            </a:pPr>
            <a:endParaRPr lang="en-US" sz="2600" dirty="0"/>
          </a:p>
        </p:txBody>
      </p:sp>
      <p:sp>
        <p:nvSpPr>
          <p:cNvPr id="11" name="Text 9">
            <a:extLst>
              <a:ext uri="{FF2B5EF4-FFF2-40B4-BE49-F238E27FC236}">
                <a16:creationId xmlns:a16="http://schemas.microsoft.com/office/drawing/2014/main" id="{47055A7F-541E-7E91-D460-C1496F145172}"/>
              </a:ext>
            </a:extLst>
          </p:cNvPr>
          <p:cNvSpPr/>
          <p:nvPr/>
        </p:nvSpPr>
        <p:spPr>
          <a:xfrm rot="-60000">
            <a:off x="1097280" y="3127248"/>
            <a:ext cx="2697480" cy="457200"/>
          </a:xfrm>
          <a:prstGeom prst="rect">
            <a:avLst/>
          </a:prstGeom>
          <a:noFill/>
          <a:ln/>
        </p:spPr>
        <p:txBody>
          <a:bodyPr wrap="square" rtlCol="0" anchor="ctr"/>
          <a:lstStyle/>
          <a:p>
            <a:pPr marL="0" indent="0" algn="ctr">
              <a:buNone/>
            </a:pPr>
            <a:endParaRPr lang="en-US" sz="1700" dirty="0"/>
          </a:p>
        </p:txBody>
      </p:sp>
      <p:sp>
        <p:nvSpPr>
          <p:cNvPr id="12" name="Text 10">
            <a:extLst>
              <a:ext uri="{FF2B5EF4-FFF2-40B4-BE49-F238E27FC236}">
                <a16:creationId xmlns:a16="http://schemas.microsoft.com/office/drawing/2014/main" id="{B629AEB4-E07F-4A33-7023-BDC2F0F50E61}"/>
              </a:ext>
            </a:extLst>
          </p:cNvPr>
          <p:cNvSpPr/>
          <p:nvPr/>
        </p:nvSpPr>
        <p:spPr>
          <a:xfrm rot="-60000">
            <a:off x="1143000" y="3657600"/>
            <a:ext cx="2606040" cy="1874520"/>
          </a:xfrm>
          <a:prstGeom prst="rect">
            <a:avLst/>
          </a:prstGeom>
          <a:noFill/>
          <a:ln/>
        </p:spPr>
        <p:txBody>
          <a:bodyPr wrap="square" rtlCol="0" anchor="t"/>
          <a:lstStyle/>
          <a:p>
            <a:pPr marL="0" indent="0" algn="ctr">
              <a:lnSpc>
                <a:spcPct val="115000"/>
              </a:lnSpc>
              <a:buNone/>
            </a:pPr>
            <a:endParaRPr lang="en-US" sz="1200" dirty="0"/>
          </a:p>
        </p:txBody>
      </p:sp>
      <p:sp>
        <p:nvSpPr>
          <p:cNvPr id="14" name="Text 12">
            <a:extLst>
              <a:ext uri="{FF2B5EF4-FFF2-40B4-BE49-F238E27FC236}">
                <a16:creationId xmlns:a16="http://schemas.microsoft.com/office/drawing/2014/main" id="{6A793F71-E301-B515-0C7C-C3F7BB56F860}"/>
              </a:ext>
            </a:extLst>
          </p:cNvPr>
          <p:cNvSpPr/>
          <p:nvPr/>
        </p:nvSpPr>
        <p:spPr>
          <a:xfrm rot="-60000">
            <a:off x="1143000" y="5577840"/>
            <a:ext cx="2606040" cy="502920"/>
          </a:xfrm>
          <a:prstGeom prst="rect">
            <a:avLst/>
          </a:prstGeom>
          <a:noFill/>
          <a:ln/>
        </p:spPr>
        <p:txBody>
          <a:bodyPr wrap="square" rtlCol="0" anchor="ctr"/>
          <a:lstStyle/>
          <a:p>
            <a:pPr marL="0" indent="0" algn="ctr">
              <a:buNone/>
            </a:pPr>
            <a:endParaRPr lang="en-US" sz="1050" dirty="0"/>
          </a:p>
        </p:txBody>
      </p:sp>
      <p:sp>
        <p:nvSpPr>
          <p:cNvPr id="16" name="Text 14">
            <a:extLst>
              <a:ext uri="{FF2B5EF4-FFF2-40B4-BE49-F238E27FC236}">
                <a16:creationId xmlns:a16="http://schemas.microsoft.com/office/drawing/2014/main" id="{32E92915-FFFF-2544-2FD6-70FD60B7F1B2}"/>
              </a:ext>
            </a:extLst>
          </p:cNvPr>
          <p:cNvSpPr/>
          <p:nvPr/>
        </p:nvSpPr>
        <p:spPr>
          <a:xfrm>
            <a:off x="5486400" y="1965960"/>
            <a:ext cx="777240" cy="777240"/>
          </a:xfrm>
          <a:prstGeom prst="rect">
            <a:avLst/>
          </a:prstGeom>
          <a:noFill/>
          <a:ln/>
        </p:spPr>
        <p:txBody>
          <a:bodyPr wrap="square" rtlCol="0" anchor="ctr"/>
          <a:lstStyle/>
          <a:p>
            <a:pPr marL="0" indent="0" algn="ctr">
              <a:buNone/>
            </a:pPr>
            <a:endParaRPr lang="en-US" sz="2600" dirty="0"/>
          </a:p>
        </p:txBody>
      </p:sp>
      <p:sp>
        <p:nvSpPr>
          <p:cNvPr id="18" name="Text 16">
            <a:extLst>
              <a:ext uri="{FF2B5EF4-FFF2-40B4-BE49-F238E27FC236}">
                <a16:creationId xmlns:a16="http://schemas.microsoft.com/office/drawing/2014/main" id="{6B7820E0-F225-DF52-E039-7B3049FCAB79}"/>
              </a:ext>
            </a:extLst>
          </p:cNvPr>
          <p:cNvSpPr/>
          <p:nvPr/>
        </p:nvSpPr>
        <p:spPr>
          <a:xfrm>
            <a:off x="4617720" y="3127248"/>
            <a:ext cx="2697480" cy="457200"/>
          </a:xfrm>
          <a:prstGeom prst="rect">
            <a:avLst/>
          </a:prstGeom>
          <a:noFill/>
          <a:ln/>
        </p:spPr>
        <p:txBody>
          <a:bodyPr wrap="square" rtlCol="0" anchor="ctr"/>
          <a:lstStyle/>
          <a:p>
            <a:pPr marL="0" indent="0" algn="ctr">
              <a:buNone/>
            </a:pPr>
            <a:endParaRPr lang="en-US" sz="1700" dirty="0"/>
          </a:p>
        </p:txBody>
      </p:sp>
      <p:sp>
        <p:nvSpPr>
          <p:cNvPr id="19" name="Text 17">
            <a:extLst>
              <a:ext uri="{FF2B5EF4-FFF2-40B4-BE49-F238E27FC236}">
                <a16:creationId xmlns:a16="http://schemas.microsoft.com/office/drawing/2014/main" id="{88B73E38-5B27-A42B-4C9D-7037D1606F47}"/>
              </a:ext>
            </a:extLst>
          </p:cNvPr>
          <p:cNvSpPr/>
          <p:nvPr/>
        </p:nvSpPr>
        <p:spPr>
          <a:xfrm>
            <a:off x="4663440" y="3657600"/>
            <a:ext cx="2606040" cy="1874520"/>
          </a:xfrm>
          <a:prstGeom prst="rect">
            <a:avLst/>
          </a:prstGeom>
          <a:noFill/>
          <a:ln/>
        </p:spPr>
        <p:txBody>
          <a:bodyPr wrap="square" rtlCol="0" anchor="t"/>
          <a:lstStyle/>
          <a:p>
            <a:pPr marL="0" indent="0" algn="ctr">
              <a:lnSpc>
                <a:spcPct val="115000"/>
              </a:lnSpc>
              <a:buNone/>
            </a:pPr>
            <a:endParaRPr lang="en-US" sz="1200" dirty="0"/>
          </a:p>
        </p:txBody>
      </p:sp>
      <p:sp>
        <p:nvSpPr>
          <p:cNvPr id="21" name="Text 19">
            <a:extLst>
              <a:ext uri="{FF2B5EF4-FFF2-40B4-BE49-F238E27FC236}">
                <a16:creationId xmlns:a16="http://schemas.microsoft.com/office/drawing/2014/main" id="{6D927345-A1B8-4DCF-E283-020CE2E11DCA}"/>
              </a:ext>
            </a:extLst>
          </p:cNvPr>
          <p:cNvSpPr/>
          <p:nvPr/>
        </p:nvSpPr>
        <p:spPr>
          <a:xfrm>
            <a:off x="4663440" y="5577840"/>
            <a:ext cx="2606040" cy="502920"/>
          </a:xfrm>
          <a:prstGeom prst="rect">
            <a:avLst/>
          </a:prstGeom>
          <a:noFill/>
          <a:ln/>
        </p:spPr>
        <p:txBody>
          <a:bodyPr wrap="square" rtlCol="0" anchor="ctr"/>
          <a:lstStyle/>
          <a:p>
            <a:pPr marL="0" indent="0" algn="ctr">
              <a:buNone/>
            </a:pPr>
            <a:endParaRPr lang="en-US" sz="1050" dirty="0"/>
          </a:p>
        </p:txBody>
      </p:sp>
      <p:sp>
        <p:nvSpPr>
          <p:cNvPr id="22" name="Shape 20">
            <a:extLst>
              <a:ext uri="{FF2B5EF4-FFF2-40B4-BE49-F238E27FC236}">
                <a16:creationId xmlns:a16="http://schemas.microsoft.com/office/drawing/2014/main" id="{310E4DAD-4B74-9ADE-B6C8-2CBBC183682B}"/>
              </a:ext>
            </a:extLst>
          </p:cNvPr>
          <p:cNvSpPr/>
          <p:nvPr/>
        </p:nvSpPr>
        <p:spPr>
          <a:xfrm>
            <a:off x="1280160" y="1928740"/>
            <a:ext cx="777240" cy="777240"/>
          </a:xfrm>
          <a:prstGeom prst="ellipse">
            <a:avLst/>
          </a:prstGeom>
          <a:solidFill>
            <a:srgbClr val="B9789E"/>
          </a:solidFill>
          <a:ln w="31750">
            <a:solidFill>
              <a:srgbClr val="2B2B2B"/>
            </a:solidFill>
            <a:prstDash val="solid"/>
          </a:ln>
          <a:effectLst>
            <a:outerShdw blurRad="101600" dist="38100" dir="2700000" algn="bl" rotWithShape="0">
              <a:srgbClr val="2B2B2B">
                <a:alpha val="60000"/>
              </a:srgbClr>
            </a:outerShdw>
          </a:effectLst>
        </p:spPr>
      </p:sp>
      <p:sp>
        <p:nvSpPr>
          <p:cNvPr id="23" name="Text 21">
            <a:extLst>
              <a:ext uri="{FF2B5EF4-FFF2-40B4-BE49-F238E27FC236}">
                <a16:creationId xmlns:a16="http://schemas.microsoft.com/office/drawing/2014/main" id="{7A4FBEB5-8187-8EAA-6D9B-E5A170558C54}"/>
              </a:ext>
            </a:extLst>
          </p:cNvPr>
          <p:cNvSpPr/>
          <p:nvPr/>
        </p:nvSpPr>
        <p:spPr>
          <a:xfrm>
            <a:off x="1280160" y="1923867"/>
            <a:ext cx="777240" cy="77724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C</a:t>
            </a:r>
            <a:endParaRPr lang="en-US" sz="2600" dirty="0"/>
          </a:p>
        </p:txBody>
      </p:sp>
      <p:grpSp>
        <p:nvGrpSpPr>
          <p:cNvPr id="10" name="Group 9">
            <a:extLst>
              <a:ext uri="{FF2B5EF4-FFF2-40B4-BE49-F238E27FC236}">
                <a16:creationId xmlns:a16="http://schemas.microsoft.com/office/drawing/2014/main" id="{48DEC1F0-F1D5-3BAC-E38A-196DA5F3FB86}"/>
              </a:ext>
            </a:extLst>
          </p:cNvPr>
          <p:cNvGrpSpPr/>
          <p:nvPr/>
        </p:nvGrpSpPr>
        <p:grpSpPr>
          <a:xfrm>
            <a:off x="228600" y="2922673"/>
            <a:ext cx="3063240" cy="3246120"/>
            <a:chOff x="7955280" y="2971800"/>
            <a:chExt cx="3063240" cy="3246120"/>
          </a:xfrm>
        </p:grpSpPr>
        <p:sp>
          <p:nvSpPr>
            <p:cNvPr id="24" name="Shape 22">
              <a:extLst>
                <a:ext uri="{FF2B5EF4-FFF2-40B4-BE49-F238E27FC236}">
                  <a16:creationId xmlns:a16="http://schemas.microsoft.com/office/drawing/2014/main" id="{24523D8E-DD39-BA4E-33AC-A6C2C6876C37}"/>
                </a:ext>
              </a:extLst>
            </p:cNvPr>
            <p:cNvSpPr/>
            <p:nvPr/>
          </p:nvSpPr>
          <p:spPr>
            <a:xfrm rot="60000">
              <a:off x="7955280" y="2971800"/>
              <a:ext cx="3063240" cy="3246120"/>
            </a:xfrm>
            <a:prstGeom prst="roundRect">
              <a:avLst>
                <a:gd name="adj" fmla="val 3582"/>
              </a:avLst>
            </a:prstGeom>
            <a:solidFill>
              <a:srgbClr val="FFFFFF"/>
            </a:solidFill>
            <a:ln w="28575">
              <a:solidFill>
                <a:srgbClr val="2B2B2B"/>
              </a:solidFill>
              <a:prstDash val="solid"/>
            </a:ln>
            <a:effectLst>
              <a:outerShdw blurRad="101600" dist="63500" dir="2700000" algn="bl" rotWithShape="0">
                <a:srgbClr val="2B2B2B">
                  <a:alpha val="85000"/>
                </a:srgbClr>
              </a:outerShdw>
            </a:effectLst>
          </p:spPr>
        </p:sp>
        <p:sp>
          <p:nvSpPr>
            <p:cNvPr id="25" name="Text 23">
              <a:extLst>
                <a:ext uri="{FF2B5EF4-FFF2-40B4-BE49-F238E27FC236}">
                  <a16:creationId xmlns:a16="http://schemas.microsoft.com/office/drawing/2014/main" id="{E527DD51-5E4B-F4B1-1483-1FADBA9C3006}"/>
                </a:ext>
              </a:extLst>
            </p:cNvPr>
            <p:cNvSpPr/>
            <p:nvPr/>
          </p:nvSpPr>
          <p:spPr>
            <a:xfrm rot="60000">
              <a:off x="8138160" y="3127248"/>
              <a:ext cx="2697480" cy="457200"/>
            </a:xfrm>
            <a:prstGeom prst="rect">
              <a:avLst/>
            </a:prstGeom>
            <a:noFill/>
            <a:ln/>
          </p:spPr>
          <p:txBody>
            <a:bodyPr wrap="square" rtlCol="0" anchor="ctr"/>
            <a:lstStyle/>
            <a:p>
              <a:pPr marL="0" indent="0" algn="ctr">
                <a:buNone/>
              </a:pPr>
              <a:r>
                <a:rPr lang="en-US" sz="1700" b="1" dirty="0" err="1">
                  <a:solidFill>
                    <a:srgbClr val="B9789E"/>
                  </a:solidFill>
                  <a:latin typeface="Calibri" pitchFamily="34" charset="0"/>
                  <a:ea typeface="Calibri" pitchFamily="34" charset="-122"/>
                  <a:cs typeface="Calibri" pitchFamily="34" charset="-120"/>
                </a:rPr>
                <a:t>Đã</a:t>
              </a:r>
              <a:r>
                <a:rPr lang="en-US" sz="1700" b="1" dirty="0">
                  <a:solidFill>
                    <a:srgbClr val="B9789E"/>
                  </a:solidFill>
                  <a:latin typeface="Calibri" pitchFamily="34" charset="0"/>
                  <a:ea typeface="Calibri" pitchFamily="34" charset="-122"/>
                  <a:cs typeface="Calibri" pitchFamily="34" charset="-120"/>
                </a:rPr>
                <a:t> </a:t>
              </a:r>
              <a:r>
                <a:rPr lang="en-US" sz="1700" b="1" dirty="0" err="1">
                  <a:solidFill>
                    <a:srgbClr val="B9789E"/>
                  </a:solidFill>
                  <a:latin typeface="Calibri" pitchFamily="34" charset="0"/>
                  <a:ea typeface="Calibri" pitchFamily="34" charset="-122"/>
                  <a:cs typeface="Calibri" pitchFamily="34" charset="-120"/>
                </a:rPr>
                <a:t>được</a:t>
              </a:r>
              <a:r>
                <a:rPr lang="en-US" sz="1700" b="1" dirty="0">
                  <a:solidFill>
                    <a:srgbClr val="B9789E"/>
                  </a:solidFill>
                  <a:latin typeface="Calibri" pitchFamily="34" charset="0"/>
                  <a:ea typeface="Calibri" pitchFamily="34" charset="-122"/>
                  <a:cs typeface="Calibri" pitchFamily="34" charset="-120"/>
                </a:rPr>
                <a:t> </a:t>
              </a:r>
              <a:r>
                <a:rPr lang="en-US" sz="1700" b="1" dirty="0" err="1">
                  <a:solidFill>
                    <a:srgbClr val="B9789E"/>
                  </a:solidFill>
                  <a:latin typeface="Calibri" pitchFamily="34" charset="0"/>
                  <a:ea typeface="Calibri" pitchFamily="34" charset="-122"/>
                  <a:cs typeface="Calibri" pitchFamily="34" charset="-120"/>
                </a:rPr>
                <a:t>duyệt</a:t>
              </a:r>
              <a:r>
                <a:rPr lang="en-US" sz="1700" b="1" dirty="0">
                  <a:solidFill>
                    <a:srgbClr val="B9789E"/>
                  </a:solidFill>
                  <a:latin typeface="Calibri" pitchFamily="34" charset="0"/>
                  <a:ea typeface="Calibri" pitchFamily="34" charset="-122"/>
                  <a:cs typeface="Calibri" pitchFamily="34" charset="-120"/>
                </a:rPr>
                <a:t> </a:t>
              </a:r>
              <a:r>
                <a:rPr lang="en-US" sz="1700" b="1" dirty="0" err="1">
                  <a:solidFill>
                    <a:srgbClr val="B9789E"/>
                  </a:solidFill>
                  <a:latin typeface="Calibri" pitchFamily="34" charset="0"/>
                  <a:ea typeface="Calibri" pitchFamily="34" charset="-122"/>
                  <a:cs typeface="Calibri" pitchFamily="34" charset="-120"/>
                </a:rPr>
                <a:t>trước</a:t>
              </a:r>
              <a:endParaRPr lang="en-US" sz="1700" dirty="0"/>
            </a:p>
          </p:txBody>
        </p:sp>
        <p:sp>
          <p:nvSpPr>
            <p:cNvPr id="26" name="Text 24">
              <a:extLst>
                <a:ext uri="{FF2B5EF4-FFF2-40B4-BE49-F238E27FC236}">
                  <a16:creationId xmlns:a16="http://schemas.microsoft.com/office/drawing/2014/main" id="{7782FA44-5C3E-9757-8928-6D2AEE5B702C}"/>
                </a:ext>
              </a:extLst>
            </p:cNvPr>
            <p:cNvSpPr/>
            <p:nvPr/>
          </p:nvSpPr>
          <p:spPr>
            <a:xfrm rot="60000">
              <a:off x="8183880" y="3657600"/>
              <a:ext cx="2606040" cy="1874520"/>
            </a:xfrm>
            <a:prstGeom prst="rect">
              <a:avLst/>
            </a:prstGeom>
            <a:noFill/>
            <a:ln/>
          </p:spPr>
          <p:txBody>
            <a:bodyPr wrap="square" rtlCol="0" anchor="t"/>
            <a:lstStyle/>
            <a:p>
              <a:pPr marL="0" indent="0" algn="ctr">
                <a:lnSpc>
                  <a:spcPct val="115000"/>
                </a:lnSpc>
                <a:buNone/>
              </a:pPr>
              <a:r>
                <a:rPr lang="en-US" sz="1200" dirty="0" err="1">
                  <a:solidFill>
                    <a:srgbClr val="2B2B2B"/>
                  </a:solidFill>
                  <a:latin typeface="Calibri" pitchFamily="34" charset="0"/>
                  <a:ea typeface="Calibri" pitchFamily="34" charset="-122"/>
                  <a:cs typeface="Calibri" pitchFamily="34" charset="-120"/>
                </a:rPr>
                <a:t>Hệ</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thống</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tìm</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câu</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trả</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lời</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đã</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được</a:t>
              </a:r>
              <a:r>
                <a:rPr lang="en-US" sz="1200" dirty="0">
                  <a:solidFill>
                    <a:srgbClr val="2B2B2B"/>
                  </a:solidFill>
                  <a:latin typeface="Calibri" pitchFamily="34" charset="0"/>
                  <a:ea typeface="Calibri" pitchFamily="34" charset="-122"/>
                  <a:cs typeface="Calibri" pitchFamily="34" charset="-120"/>
                </a:rPr>
                <a:t> coach </a:t>
              </a:r>
              <a:r>
                <a:rPr lang="en-US" sz="1200" dirty="0" err="1">
                  <a:solidFill>
                    <a:srgbClr val="2B2B2B"/>
                  </a:solidFill>
                  <a:latin typeface="Calibri" pitchFamily="34" charset="0"/>
                  <a:ea typeface="Calibri" pitchFamily="34" charset="-122"/>
                  <a:cs typeface="Calibri" pitchFamily="34" charset="-120"/>
                </a:rPr>
                <a:t>duyệt</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từ</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trước</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rồi</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đưa</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ra</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cho</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người</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học</a:t>
              </a:r>
              <a:r>
                <a:rPr lang="en-US" sz="1200" dirty="0">
                  <a:solidFill>
                    <a:srgbClr val="2B2B2B"/>
                  </a:solidFill>
                  <a:latin typeface="Calibri" pitchFamily="34" charset="0"/>
                  <a:ea typeface="Calibri" pitchFamily="34" charset="-122"/>
                  <a:cs typeface="Calibri" pitchFamily="34" charset="-120"/>
                </a:rPr>
                <a:t> </a:t>
              </a:r>
              <a:r>
                <a:rPr lang="en-US" sz="1200" dirty="0" err="1">
                  <a:solidFill>
                    <a:srgbClr val="2B2B2B"/>
                  </a:solidFill>
                  <a:latin typeface="Calibri" pitchFamily="34" charset="0"/>
                  <a:ea typeface="Calibri" pitchFamily="34" charset="-122"/>
                  <a:cs typeface="Calibri" pitchFamily="34" charset="-120"/>
                </a:rPr>
                <a:t>xem</a:t>
              </a:r>
              <a:r>
                <a:rPr lang="en-US" sz="1200" dirty="0">
                  <a:solidFill>
                    <a:srgbClr val="2B2B2B"/>
                  </a:solidFill>
                  <a:latin typeface="Calibri" pitchFamily="34" charset="0"/>
                  <a:ea typeface="Calibri" pitchFamily="34" charset="-122"/>
                  <a:cs typeface="Calibri" pitchFamily="34" charset="-120"/>
                </a:rPr>
                <a:t>.</a:t>
              </a:r>
              <a:endParaRPr lang="en-US" sz="1200" dirty="0"/>
            </a:p>
          </p:txBody>
        </p:sp>
        <p:sp>
          <p:nvSpPr>
            <p:cNvPr id="27" name="Shape 25">
              <a:extLst>
                <a:ext uri="{FF2B5EF4-FFF2-40B4-BE49-F238E27FC236}">
                  <a16:creationId xmlns:a16="http://schemas.microsoft.com/office/drawing/2014/main" id="{45C2A78D-5D99-B217-8BD3-48D650598BE0}"/>
                </a:ext>
              </a:extLst>
            </p:cNvPr>
            <p:cNvSpPr/>
            <p:nvPr/>
          </p:nvSpPr>
          <p:spPr>
            <a:xfrm rot="60000">
              <a:off x="8183880" y="5577840"/>
              <a:ext cx="2606040" cy="502920"/>
            </a:xfrm>
            <a:prstGeom prst="roundRect">
              <a:avLst>
                <a:gd name="adj" fmla="val 50000"/>
              </a:avLst>
            </a:prstGeom>
            <a:solidFill>
              <a:srgbClr val="EDEDED"/>
            </a:solidFill>
            <a:ln w="25400">
              <a:solidFill>
                <a:srgbClr val="2B2B2B"/>
              </a:solidFill>
              <a:prstDash val="solid"/>
            </a:ln>
          </p:spPr>
        </p:sp>
        <p:sp>
          <p:nvSpPr>
            <p:cNvPr id="28" name="Text 26">
              <a:extLst>
                <a:ext uri="{FF2B5EF4-FFF2-40B4-BE49-F238E27FC236}">
                  <a16:creationId xmlns:a16="http://schemas.microsoft.com/office/drawing/2014/main" id="{318CF322-E4B5-1F6E-F348-A35CB2786C98}"/>
                </a:ext>
              </a:extLst>
            </p:cNvPr>
            <p:cNvSpPr/>
            <p:nvPr/>
          </p:nvSpPr>
          <p:spPr>
            <a:xfrm rot="60000">
              <a:off x="8183880" y="5577840"/>
              <a:ext cx="2606040" cy="502920"/>
            </a:xfrm>
            <a:prstGeom prst="rect">
              <a:avLst/>
            </a:prstGeom>
            <a:noFill/>
            <a:ln/>
          </p:spPr>
          <p:txBody>
            <a:bodyPr wrap="square" rtlCol="0" anchor="ctr"/>
            <a:lstStyle/>
            <a:p>
              <a:pPr marL="0" indent="0" algn="ctr">
                <a:buNone/>
              </a:pPr>
              <a:r>
                <a:rPr lang="en-US" sz="1050" b="1" dirty="0">
                  <a:solidFill>
                    <a:srgbClr val="2B2B2B"/>
                  </a:solidFill>
                  <a:latin typeface="Calibri" pitchFamily="34" charset="0"/>
                  <a:ea typeface="Calibri" pitchFamily="34" charset="-122"/>
                  <a:cs typeface="Calibri" pitchFamily="34" charset="-120"/>
                </a:rPr>
                <a:t>Coach </a:t>
              </a:r>
              <a:r>
                <a:rPr lang="en-US" sz="1050" b="1" dirty="0" err="1">
                  <a:solidFill>
                    <a:srgbClr val="2B2B2B"/>
                  </a:solidFill>
                  <a:latin typeface="Calibri" pitchFamily="34" charset="0"/>
                  <a:ea typeface="Calibri" pitchFamily="34" charset="-122"/>
                  <a:cs typeface="Calibri" pitchFamily="34" charset="-120"/>
                </a:rPr>
                <a:t>đã</a:t>
              </a:r>
              <a:r>
                <a:rPr lang="en-US" sz="1050" b="1" dirty="0">
                  <a:solidFill>
                    <a:srgbClr val="2B2B2B"/>
                  </a:solidFill>
                  <a:latin typeface="Calibri" pitchFamily="34" charset="0"/>
                  <a:ea typeface="Calibri" pitchFamily="34" charset="-122"/>
                  <a:cs typeface="Calibri" pitchFamily="34" charset="-120"/>
                </a:rPr>
                <a:t> </a:t>
              </a:r>
              <a:r>
                <a:rPr lang="en-US" sz="1050" b="1" dirty="0" err="1">
                  <a:solidFill>
                    <a:srgbClr val="2B2B2B"/>
                  </a:solidFill>
                  <a:latin typeface="Calibri" pitchFamily="34" charset="0"/>
                  <a:ea typeface="Calibri" pitchFamily="34" charset="-122"/>
                  <a:cs typeface="Calibri" pitchFamily="34" charset="-120"/>
                </a:rPr>
                <a:t>chuẩn</a:t>
              </a:r>
              <a:r>
                <a:rPr lang="en-US" sz="1050" b="1" dirty="0">
                  <a:solidFill>
                    <a:srgbClr val="2B2B2B"/>
                  </a:solidFill>
                  <a:latin typeface="Calibri" pitchFamily="34" charset="0"/>
                  <a:ea typeface="Calibri" pitchFamily="34" charset="-122"/>
                  <a:cs typeface="Calibri" pitchFamily="34" charset="-120"/>
                </a:rPr>
                <a:t> </a:t>
              </a:r>
              <a:r>
                <a:rPr lang="en-US" sz="1050" b="1" dirty="0" err="1">
                  <a:solidFill>
                    <a:srgbClr val="2B2B2B"/>
                  </a:solidFill>
                  <a:latin typeface="Calibri" pitchFamily="34" charset="0"/>
                  <a:ea typeface="Calibri" pitchFamily="34" charset="-122"/>
                  <a:cs typeface="Calibri" pitchFamily="34" charset="-120"/>
                </a:rPr>
                <a:t>bị</a:t>
              </a:r>
              <a:r>
                <a:rPr lang="en-US" sz="1050" b="1" dirty="0">
                  <a:solidFill>
                    <a:srgbClr val="2B2B2B"/>
                  </a:solidFill>
                  <a:latin typeface="Calibri" pitchFamily="34" charset="0"/>
                  <a:ea typeface="Calibri" pitchFamily="34" charset="-122"/>
                  <a:cs typeface="Calibri" pitchFamily="34" charset="-120"/>
                </a:rPr>
                <a:t> </a:t>
              </a:r>
              <a:r>
                <a:rPr lang="en-US" sz="1050" b="1" dirty="0" err="1">
                  <a:solidFill>
                    <a:srgbClr val="2B2B2B"/>
                  </a:solidFill>
                  <a:latin typeface="Calibri" pitchFamily="34" charset="0"/>
                  <a:ea typeface="Calibri" pitchFamily="34" charset="-122"/>
                  <a:cs typeface="Calibri" pitchFamily="34" charset="-120"/>
                </a:rPr>
                <a:t>sẵn</a:t>
              </a:r>
              <a:r>
                <a:rPr lang="en-US" sz="1050" b="1" dirty="0">
                  <a:solidFill>
                    <a:srgbClr val="2B2B2B"/>
                  </a:solidFill>
                  <a:latin typeface="Calibri" pitchFamily="34" charset="0"/>
                  <a:ea typeface="Calibri" pitchFamily="34" charset="-122"/>
                  <a:cs typeface="Calibri" pitchFamily="34" charset="-120"/>
                </a:rPr>
                <a:t> </a:t>
              </a:r>
              <a:r>
                <a:rPr lang="en-US" sz="1050" b="1" dirty="0" err="1">
                  <a:solidFill>
                    <a:srgbClr val="2B2B2B"/>
                  </a:solidFill>
                  <a:latin typeface="Calibri" pitchFamily="34" charset="0"/>
                  <a:ea typeface="Calibri" pitchFamily="34" charset="-122"/>
                  <a:cs typeface="Calibri" pitchFamily="34" charset="-120"/>
                </a:rPr>
                <a:t>từ</a:t>
              </a:r>
              <a:r>
                <a:rPr lang="en-US" sz="1050" b="1" dirty="0">
                  <a:solidFill>
                    <a:srgbClr val="2B2B2B"/>
                  </a:solidFill>
                  <a:latin typeface="Calibri" pitchFamily="34" charset="0"/>
                  <a:ea typeface="Calibri" pitchFamily="34" charset="-122"/>
                  <a:cs typeface="Calibri" pitchFamily="34" charset="-120"/>
                </a:rPr>
                <a:t> </a:t>
              </a:r>
              <a:r>
                <a:rPr lang="en-US" sz="1050" b="1" dirty="0" err="1">
                  <a:solidFill>
                    <a:srgbClr val="2B2B2B"/>
                  </a:solidFill>
                  <a:latin typeface="Calibri" pitchFamily="34" charset="0"/>
                  <a:ea typeface="Calibri" pitchFamily="34" charset="-122"/>
                  <a:cs typeface="Calibri" pitchFamily="34" charset="-120"/>
                </a:rPr>
                <a:t>trước</a:t>
              </a:r>
              <a:endParaRPr lang="en-US" sz="1050" dirty="0"/>
            </a:p>
          </p:txBody>
        </p:sp>
      </p:grpSp>
      <p:sp>
        <p:nvSpPr>
          <p:cNvPr id="29" name="Shape 27">
            <a:extLst>
              <a:ext uri="{FF2B5EF4-FFF2-40B4-BE49-F238E27FC236}">
                <a16:creationId xmlns:a16="http://schemas.microsoft.com/office/drawing/2014/main" id="{2806B64C-C77B-7A59-DFC0-F1A97ED492CC}"/>
              </a:ext>
            </a:extLst>
          </p:cNvPr>
          <p:cNvSpPr/>
          <p:nvPr/>
        </p:nvSpPr>
        <p:spPr>
          <a:xfrm>
            <a:off x="11475720" y="6263640"/>
            <a:ext cx="457200" cy="457200"/>
          </a:xfrm>
          <a:prstGeom prst="ellipse">
            <a:avLst/>
          </a:prstGeom>
          <a:solidFill>
            <a:srgbClr val="FFFFFF"/>
          </a:solidFill>
          <a:ln w="28575">
            <a:solidFill>
              <a:srgbClr val="2B2B2B"/>
            </a:solidFill>
            <a:prstDash val="solid"/>
          </a:ln>
        </p:spPr>
      </p:sp>
      <p:sp>
        <p:nvSpPr>
          <p:cNvPr id="30" name="Text 28">
            <a:extLst>
              <a:ext uri="{FF2B5EF4-FFF2-40B4-BE49-F238E27FC236}">
                <a16:creationId xmlns:a16="http://schemas.microsoft.com/office/drawing/2014/main" id="{03108E7E-88FF-4CD2-8A94-24A11A9CA176}"/>
              </a:ext>
            </a:extLst>
          </p:cNvPr>
          <p:cNvSpPr/>
          <p:nvPr/>
        </p:nvSpPr>
        <p:spPr>
          <a:xfrm>
            <a:off x="11475720" y="6263640"/>
            <a:ext cx="457200" cy="457200"/>
          </a:xfrm>
          <a:prstGeom prst="rect">
            <a:avLst/>
          </a:prstGeom>
          <a:noFill/>
          <a:ln/>
        </p:spPr>
        <p:txBody>
          <a:bodyPr wrap="square"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6</a:t>
            </a:r>
            <a:endParaRPr lang="en-US" sz="1300" dirty="0"/>
          </a:p>
        </p:txBody>
      </p:sp>
      <p:pic>
        <p:nvPicPr>
          <p:cNvPr id="33" name="Picture 32">
            <a:extLst>
              <a:ext uri="{FF2B5EF4-FFF2-40B4-BE49-F238E27FC236}">
                <a16:creationId xmlns:a16="http://schemas.microsoft.com/office/drawing/2014/main" id="{A39A959D-6F38-12DD-D3CD-7A06F8ACF9C0}"/>
              </a:ext>
            </a:extLst>
          </p:cNvPr>
          <p:cNvPicPr>
            <a:picLocks noChangeAspect="1"/>
          </p:cNvPicPr>
          <p:nvPr/>
        </p:nvPicPr>
        <p:blipFill>
          <a:blip r:embed="rId3"/>
          <a:stretch>
            <a:fillRect/>
          </a:stretch>
        </p:blipFill>
        <p:spPr>
          <a:xfrm>
            <a:off x="3560469" y="2153939"/>
            <a:ext cx="8781813" cy="4041338"/>
          </a:xfrm>
          <a:prstGeom prst="rect">
            <a:avLst/>
          </a:prstGeom>
        </p:spPr>
      </p:pic>
    </p:spTree>
    <p:extLst>
      <p:ext uri="{BB962C8B-B14F-4D97-AF65-F5344CB8AC3E}">
        <p14:creationId xmlns:p14="http://schemas.microsoft.com/office/powerpoint/2010/main" val="35676814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20000">
            <a:off x="502920" y="411480"/>
            <a:ext cx="3566160" cy="457200"/>
          </a:xfrm>
          <a:prstGeom prst="roundRect">
            <a:avLst>
              <a:gd name="adj" fmla="val 50000"/>
            </a:avLst>
          </a:prstGeom>
          <a:solidFill>
            <a:srgbClr val="3FA34D"/>
          </a:solidFill>
          <a:ln w="25400">
            <a:solidFill>
              <a:srgbClr val="2B2B2B"/>
            </a:solidFill>
            <a:prstDash val="solid"/>
          </a:ln>
          <a:effectLst>
            <a:outerShdw blurRad="101600" dist="50800" dir="2700000" algn="bl" rotWithShape="0">
              <a:srgbClr val="2B2B2B">
                <a:alpha val="80000"/>
              </a:srgbClr>
            </a:outerShdw>
          </a:effectLst>
        </p:spPr>
      </p:sp>
      <p:sp>
        <p:nvSpPr>
          <p:cNvPr id="3" name="Text 1"/>
          <p:cNvSpPr/>
          <p:nvPr/>
        </p:nvSpPr>
        <p:spPr>
          <a:xfrm rot="-120000">
            <a:off x="502920" y="411480"/>
            <a:ext cx="3566160" cy="4572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06  ·  THIẾT KẾ OPTION A</a:t>
            </a:r>
            <a:endParaRPr lang="en-US" sz="1150" dirty="0"/>
          </a:p>
        </p:txBody>
      </p:sp>
      <p:sp>
        <p:nvSpPr>
          <p:cNvPr id="4" name="Text 2"/>
          <p:cNvSpPr/>
          <p:nvPr/>
        </p:nvSpPr>
        <p:spPr>
          <a:xfrm>
            <a:off x="502920" y="960120"/>
            <a:ext cx="10789920" cy="868680"/>
          </a:xfrm>
          <a:prstGeom prst="rect">
            <a:avLst/>
          </a:prstGeom>
          <a:noFill/>
          <a:ln/>
        </p:spPr>
        <p:txBody>
          <a:bodyPr wrap="square" rtlCol="0" anchor="t"/>
          <a:lstStyle/>
          <a:p>
            <a:pPr marL="0" indent="0" algn="l">
              <a:buNone/>
            </a:pPr>
            <a:r>
              <a:rPr lang="en-US" sz="2400" b="1" dirty="0">
                <a:solidFill>
                  <a:srgbClr val="2B2B2B"/>
                </a:solidFill>
                <a:latin typeface="Calibri" pitchFamily="34" charset="0"/>
                <a:ea typeface="Calibri" pitchFamily="34" charset="-122"/>
                <a:cs typeface="Calibri" pitchFamily="34" charset="-120"/>
              </a:rPr>
              <a:t>AI làm gì, người học làm gì — bốn quyết định thiết kế</a:t>
            </a:r>
            <a:endParaRPr lang="en-US" sz="2400" dirty="0"/>
          </a:p>
        </p:txBody>
      </p:sp>
      <p:sp>
        <p:nvSpPr>
          <p:cNvPr id="5" name="Shape 3"/>
          <p:cNvSpPr/>
          <p:nvPr/>
        </p:nvSpPr>
        <p:spPr>
          <a:xfrm rot="-48000">
            <a:off x="640080" y="1965960"/>
            <a:ext cx="5212080" cy="2011680"/>
          </a:xfrm>
          <a:prstGeom prst="roundRect">
            <a:avLst>
              <a:gd name="adj" fmla="val 5455"/>
            </a:avLst>
          </a:prstGeom>
          <a:solidFill>
            <a:srgbClr val="FFFFFF"/>
          </a:solidFill>
          <a:ln w="28575">
            <a:solidFill>
              <a:srgbClr val="2B2B2B"/>
            </a:solidFill>
            <a:prstDash val="solid"/>
          </a:ln>
          <a:effectLst>
            <a:outerShdw blurRad="101600" dist="63500" dir="2700000" algn="bl" rotWithShape="0">
              <a:srgbClr val="2B2B2B">
                <a:alpha val="85000"/>
              </a:srgbClr>
            </a:outerShdw>
          </a:effectLst>
        </p:spPr>
      </p:sp>
      <p:sp>
        <p:nvSpPr>
          <p:cNvPr id="6" name="Shape 4"/>
          <p:cNvSpPr/>
          <p:nvPr/>
        </p:nvSpPr>
        <p:spPr>
          <a:xfrm rot="-48000">
            <a:off x="896112" y="2194560"/>
            <a:ext cx="457200" cy="457200"/>
          </a:xfrm>
          <a:prstGeom prst="roundRect">
            <a:avLst>
              <a:gd name="adj" fmla="val 50000"/>
            </a:avLst>
          </a:prstGeom>
          <a:solidFill>
            <a:srgbClr val="FF6B54"/>
          </a:solidFill>
          <a:ln w="25400">
            <a:solidFill>
              <a:srgbClr val="2B2B2B"/>
            </a:solidFill>
            <a:prstDash val="solid"/>
          </a:ln>
        </p:spPr>
      </p:sp>
      <p:sp>
        <p:nvSpPr>
          <p:cNvPr id="7" name="Text 5"/>
          <p:cNvSpPr/>
          <p:nvPr/>
        </p:nvSpPr>
        <p:spPr>
          <a:xfrm>
            <a:off x="1554480" y="2130552"/>
            <a:ext cx="4023360" cy="502920"/>
          </a:xfrm>
          <a:prstGeom prst="rect">
            <a:avLst/>
          </a:prstGeom>
          <a:noFill/>
          <a:ln/>
        </p:spPr>
        <p:txBody>
          <a:bodyPr wrap="square" rtlCol="0" anchor="ctr"/>
          <a:lstStyle/>
          <a:p>
            <a:pPr marL="0" indent="0">
              <a:buNone/>
            </a:pPr>
            <a:r>
              <a:rPr lang="en-US" sz="1500" b="1" dirty="0">
                <a:solidFill>
                  <a:srgbClr val="2B2B2B"/>
                </a:solidFill>
                <a:latin typeface="Calibri" pitchFamily="34" charset="0"/>
                <a:ea typeface="Calibri" pitchFamily="34" charset="-122"/>
                <a:cs typeface="Calibri" pitchFamily="34" charset="-120"/>
              </a:rPr>
              <a:t>Nói trước AI làm được gì</a:t>
            </a:r>
            <a:endParaRPr lang="en-US" sz="1500" dirty="0"/>
          </a:p>
        </p:txBody>
      </p:sp>
      <p:sp>
        <p:nvSpPr>
          <p:cNvPr id="8" name="Text 6"/>
          <p:cNvSpPr/>
          <p:nvPr/>
        </p:nvSpPr>
        <p:spPr>
          <a:xfrm>
            <a:off x="960120" y="2743200"/>
            <a:ext cx="4617720" cy="1143000"/>
          </a:xfrm>
          <a:prstGeom prst="rect">
            <a:avLst/>
          </a:prstGeom>
          <a:noFill/>
          <a:ln/>
        </p:spPr>
        <p:txBody>
          <a:bodyPr wrap="square" rtlCol="0" anchor="t"/>
          <a:lstStyle/>
          <a:p>
            <a:pPr marL="0" indent="0">
              <a:lnSpc>
                <a:spcPct val="115000"/>
              </a:lnSpc>
              <a:buNone/>
            </a:pPr>
            <a:r>
              <a:rPr lang="en-US" sz="1150" dirty="0">
                <a:solidFill>
                  <a:srgbClr val="444444"/>
                </a:solidFill>
                <a:latin typeface="Calibri" pitchFamily="34" charset="0"/>
                <a:ea typeface="Calibri" pitchFamily="34" charset="-122"/>
                <a:cs typeface="Calibri" pitchFamily="34" charset="-120"/>
              </a:rPr>
              <a:t>Hệ thống nói rõ ngay từ đầu: chỉ trả lời dựa theo tài liệu khóa học. Với lỗi cài đặt máy cá nhân, tài liệu thường không có sẵn, nên hệ thống sẽ nói thẳng là không chắc.</a:t>
            </a:r>
            <a:endParaRPr lang="en-US" sz="1150" dirty="0"/>
          </a:p>
        </p:txBody>
      </p:sp>
      <p:sp>
        <p:nvSpPr>
          <p:cNvPr id="9" name="Shape 7"/>
          <p:cNvSpPr/>
          <p:nvPr/>
        </p:nvSpPr>
        <p:spPr>
          <a:xfrm rot="48000">
            <a:off x="6126480" y="1965960"/>
            <a:ext cx="5212080" cy="2011680"/>
          </a:xfrm>
          <a:prstGeom prst="roundRect">
            <a:avLst>
              <a:gd name="adj" fmla="val 5455"/>
            </a:avLst>
          </a:prstGeom>
          <a:solidFill>
            <a:srgbClr val="FFFFFF"/>
          </a:solidFill>
          <a:ln w="28575">
            <a:solidFill>
              <a:srgbClr val="2B2B2B"/>
            </a:solidFill>
            <a:prstDash val="solid"/>
          </a:ln>
          <a:effectLst>
            <a:outerShdw blurRad="101600" dist="63500" dir="2700000" algn="bl" rotWithShape="0">
              <a:srgbClr val="2B2B2B">
                <a:alpha val="85000"/>
              </a:srgbClr>
            </a:outerShdw>
          </a:effectLst>
        </p:spPr>
      </p:sp>
      <p:sp>
        <p:nvSpPr>
          <p:cNvPr id="10" name="Shape 8"/>
          <p:cNvSpPr/>
          <p:nvPr/>
        </p:nvSpPr>
        <p:spPr>
          <a:xfrm rot="48000">
            <a:off x="6382512" y="2194560"/>
            <a:ext cx="457200" cy="457200"/>
          </a:xfrm>
          <a:prstGeom prst="roundRect">
            <a:avLst>
              <a:gd name="adj" fmla="val 50000"/>
            </a:avLst>
          </a:prstGeom>
          <a:solidFill>
            <a:srgbClr val="2AA39D"/>
          </a:solidFill>
          <a:ln w="25400">
            <a:solidFill>
              <a:srgbClr val="2B2B2B"/>
            </a:solidFill>
            <a:prstDash val="solid"/>
          </a:ln>
        </p:spPr>
      </p:sp>
      <p:sp>
        <p:nvSpPr>
          <p:cNvPr id="11" name="Text 9"/>
          <p:cNvSpPr/>
          <p:nvPr/>
        </p:nvSpPr>
        <p:spPr>
          <a:xfrm>
            <a:off x="7040880" y="2130552"/>
            <a:ext cx="4023360" cy="502920"/>
          </a:xfrm>
          <a:prstGeom prst="rect">
            <a:avLst/>
          </a:prstGeom>
          <a:noFill/>
          <a:ln/>
        </p:spPr>
        <p:txBody>
          <a:bodyPr wrap="square" rtlCol="0" anchor="ctr"/>
          <a:lstStyle/>
          <a:p>
            <a:pPr marL="0" indent="0">
              <a:buNone/>
            </a:pPr>
            <a:r>
              <a:rPr lang="en-US" sz="1500" b="1" dirty="0">
                <a:solidFill>
                  <a:srgbClr val="2B2B2B"/>
                </a:solidFill>
                <a:latin typeface="Calibri" pitchFamily="34" charset="0"/>
                <a:ea typeface="Calibri" pitchFamily="34" charset="-122"/>
                <a:cs typeface="Calibri" pitchFamily="34" charset="-120"/>
              </a:rPr>
              <a:t>AI không tự quyết thay người học</a:t>
            </a:r>
            <a:endParaRPr lang="en-US" sz="1500" dirty="0"/>
          </a:p>
        </p:txBody>
      </p:sp>
      <p:sp>
        <p:nvSpPr>
          <p:cNvPr id="12" name="Text 10"/>
          <p:cNvSpPr/>
          <p:nvPr/>
        </p:nvSpPr>
        <p:spPr>
          <a:xfrm>
            <a:off x="6446520" y="2743200"/>
            <a:ext cx="4617720" cy="1143000"/>
          </a:xfrm>
          <a:prstGeom prst="rect">
            <a:avLst/>
          </a:prstGeom>
          <a:noFill/>
          <a:ln/>
        </p:spPr>
        <p:txBody>
          <a:bodyPr wrap="square" rtlCol="0" anchor="t"/>
          <a:lstStyle/>
          <a:p>
            <a:pPr marL="0" indent="0">
              <a:lnSpc>
                <a:spcPct val="115000"/>
              </a:lnSpc>
              <a:buNone/>
            </a:pPr>
            <a:r>
              <a:rPr lang="en-US" sz="1150" dirty="0">
                <a:solidFill>
                  <a:srgbClr val="444444"/>
                </a:solidFill>
                <a:latin typeface="Calibri" pitchFamily="34" charset="0"/>
                <a:ea typeface="Calibri" pitchFamily="34" charset="-122"/>
                <a:cs typeface="Calibri" pitchFamily="34" charset="-120"/>
              </a:rPr>
              <a:t>AI không tự đánh giá xem câu trả lời của mình đúng hay sai. Việc tin hay không hoàn toàn do người học tự quyết định.</a:t>
            </a:r>
            <a:endParaRPr lang="en-US" sz="1150" dirty="0"/>
          </a:p>
        </p:txBody>
      </p:sp>
      <p:sp>
        <p:nvSpPr>
          <p:cNvPr id="13" name="Shape 11"/>
          <p:cNvSpPr/>
          <p:nvPr/>
        </p:nvSpPr>
        <p:spPr>
          <a:xfrm rot="-48000">
            <a:off x="640080" y="4206240"/>
            <a:ext cx="5212080" cy="2011680"/>
          </a:xfrm>
          <a:prstGeom prst="roundRect">
            <a:avLst>
              <a:gd name="adj" fmla="val 5455"/>
            </a:avLst>
          </a:prstGeom>
          <a:solidFill>
            <a:srgbClr val="FFFFFF"/>
          </a:solidFill>
          <a:ln w="28575">
            <a:solidFill>
              <a:srgbClr val="2B2B2B"/>
            </a:solidFill>
            <a:prstDash val="solid"/>
          </a:ln>
          <a:effectLst>
            <a:outerShdw blurRad="101600" dist="63500" dir="2700000" algn="bl" rotWithShape="0">
              <a:srgbClr val="2B2B2B">
                <a:alpha val="85000"/>
              </a:srgbClr>
            </a:outerShdw>
          </a:effectLst>
        </p:spPr>
      </p:sp>
      <p:sp>
        <p:nvSpPr>
          <p:cNvPr id="14" name="Shape 12"/>
          <p:cNvSpPr/>
          <p:nvPr/>
        </p:nvSpPr>
        <p:spPr>
          <a:xfrm rot="-48000">
            <a:off x="896112" y="4434840"/>
            <a:ext cx="457200" cy="457200"/>
          </a:xfrm>
          <a:prstGeom prst="roundRect">
            <a:avLst>
              <a:gd name="adj" fmla="val 50000"/>
            </a:avLst>
          </a:prstGeom>
          <a:solidFill>
            <a:srgbClr val="5B9BD5"/>
          </a:solidFill>
          <a:ln w="25400">
            <a:solidFill>
              <a:srgbClr val="2B2B2B"/>
            </a:solidFill>
            <a:prstDash val="solid"/>
          </a:ln>
        </p:spPr>
      </p:sp>
      <p:sp>
        <p:nvSpPr>
          <p:cNvPr id="15" name="Text 13"/>
          <p:cNvSpPr/>
          <p:nvPr/>
        </p:nvSpPr>
        <p:spPr>
          <a:xfrm>
            <a:off x="1554480" y="4370832"/>
            <a:ext cx="4023360" cy="502920"/>
          </a:xfrm>
          <a:prstGeom prst="rect">
            <a:avLst/>
          </a:prstGeom>
          <a:noFill/>
          <a:ln/>
        </p:spPr>
        <p:txBody>
          <a:bodyPr wrap="square" rtlCol="0" anchor="ctr"/>
          <a:lstStyle/>
          <a:p>
            <a:pPr marL="0" indent="0">
              <a:buNone/>
            </a:pPr>
            <a:r>
              <a:rPr lang="en-US" sz="1500" b="1" dirty="0">
                <a:solidFill>
                  <a:srgbClr val="2B2B2B"/>
                </a:solidFill>
                <a:latin typeface="Calibri" pitchFamily="34" charset="0"/>
                <a:ea typeface="Calibri" pitchFamily="34" charset="-122"/>
                <a:cs typeface="Calibri" pitchFamily="34" charset="-120"/>
              </a:rPr>
              <a:t>Có bằng chứng đi kèm</a:t>
            </a:r>
            <a:endParaRPr lang="en-US" sz="1500" dirty="0"/>
          </a:p>
        </p:txBody>
      </p:sp>
      <p:sp>
        <p:nvSpPr>
          <p:cNvPr id="16" name="Text 14"/>
          <p:cNvSpPr/>
          <p:nvPr/>
        </p:nvSpPr>
        <p:spPr>
          <a:xfrm>
            <a:off x="960120" y="4983480"/>
            <a:ext cx="4617720" cy="1143000"/>
          </a:xfrm>
          <a:prstGeom prst="rect">
            <a:avLst/>
          </a:prstGeom>
          <a:noFill/>
          <a:ln/>
        </p:spPr>
        <p:txBody>
          <a:bodyPr wrap="square" rtlCol="0" anchor="t"/>
          <a:lstStyle/>
          <a:p>
            <a:pPr marL="0" indent="0">
              <a:lnSpc>
                <a:spcPct val="115000"/>
              </a:lnSpc>
              <a:buNone/>
            </a:pPr>
            <a:r>
              <a:rPr lang="en-US" sz="1150" dirty="0">
                <a:solidFill>
                  <a:srgbClr val="444444"/>
                </a:solidFill>
                <a:latin typeface="Calibri" pitchFamily="34" charset="0"/>
                <a:ea typeface="Calibri" pitchFamily="34" charset="-122"/>
                <a:cs typeface="Calibri" pitchFamily="34" charset="-120"/>
              </a:rPr>
              <a:t>Mỗi ý trong câu trả lời đều có trích dẫn đi kèm. Ý nào không tìm được trong tài liệu thì được ghi rõ là “ngoài phạm vi tài liệu”, thay vì đưa ra một con số phần trăm không thật.</a:t>
            </a:r>
            <a:endParaRPr lang="en-US" sz="1150" dirty="0"/>
          </a:p>
        </p:txBody>
      </p:sp>
      <p:sp>
        <p:nvSpPr>
          <p:cNvPr id="17" name="Shape 15"/>
          <p:cNvSpPr/>
          <p:nvPr/>
        </p:nvSpPr>
        <p:spPr>
          <a:xfrm rot="48000">
            <a:off x="6126480" y="4206240"/>
            <a:ext cx="5212080" cy="2011680"/>
          </a:xfrm>
          <a:prstGeom prst="roundRect">
            <a:avLst>
              <a:gd name="adj" fmla="val 5455"/>
            </a:avLst>
          </a:prstGeom>
          <a:solidFill>
            <a:srgbClr val="FFFFFF"/>
          </a:solidFill>
          <a:ln w="28575">
            <a:solidFill>
              <a:srgbClr val="2B2B2B"/>
            </a:solidFill>
            <a:prstDash val="solid"/>
          </a:ln>
          <a:effectLst>
            <a:outerShdw blurRad="101600" dist="63500" dir="2700000" algn="bl" rotWithShape="0">
              <a:srgbClr val="2B2B2B">
                <a:alpha val="85000"/>
              </a:srgbClr>
            </a:outerShdw>
          </a:effectLst>
        </p:spPr>
      </p:sp>
      <p:sp>
        <p:nvSpPr>
          <p:cNvPr id="18" name="Shape 16"/>
          <p:cNvSpPr/>
          <p:nvPr/>
        </p:nvSpPr>
        <p:spPr>
          <a:xfrm rot="48000">
            <a:off x="6382512" y="4434840"/>
            <a:ext cx="457200" cy="457200"/>
          </a:xfrm>
          <a:prstGeom prst="roundRect">
            <a:avLst>
              <a:gd name="adj" fmla="val 50000"/>
            </a:avLst>
          </a:prstGeom>
          <a:solidFill>
            <a:srgbClr val="B9789E"/>
          </a:solidFill>
          <a:ln w="25400">
            <a:solidFill>
              <a:srgbClr val="2B2B2B"/>
            </a:solidFill>
            <a:prstDash val="solid"/>
          </a:ln>
        </p:spPr>
      </p:sp>
      <p:sp>
        <p:nvSpPr>
          <p:cNvPr id="19" name="Text 17"/>
          <p:cNvSpPr/>
          <p:nvPr/>
        </p:nvSpPr>
        <p:spPr>
          <a:xfrm>
            <a:off x="7040880" y="4370832"/>
            <a:ext cx="4023360" cy="502920"/>
          </a:xfrm>
          <a:prstGeom prst="rect">
            <a:avLst/>
          </a:prstGeom>
          <a:noFill/>
          <a:ln/>
        </p:spPr>
        <p:txBody>
          <a:bodyPr wrap="square" rtlCol="0" anchor="ctr"/>
          <a:lstStyle/>
          <a:p>
            <a:pPr marL="0" indent="0">
              <a:buNone/>
            </a:pPr>
            <a:r>
              <a:rPr lang="en-US" sz="1500" b="1" dirty="0">
                <a:solidFill>
                  <a:srgbClr val="2B2B2B"/>
                </a:solidFill>
                <a:latin typeface="Calibri" pitchFamily="34" charset="0"/>
                <a:ea typeface="Calibri" pitchFamily="34" charset="-122"/>
                <a:cs typeface="Calibri" pitchFamily="34" charset="-120"/>
              </a:rPr>
              <a:t>Người học có thể kiểm tra lại</a:t>
            </a:r>
            <a:endParaRPr lang="en-US" sz="1500" dirty="0"/>
          </a:p>
        </p:txBody>
      </p:sp>
      <p:sp>
        <p:nvSpPr>
          <p:cNvPr id="20" name="Text 18"/>
          <p:cNvSpPr/>
          <p:nvPr/>
        </p:nvSpPr>
        <p:spPr>
          <a:xfrm>
            <a:off x="6446520" y="4983480"/>
            <a:ext cx="4617720" cy="1143000"/>
          </a:xfrm>
          <a:prstGeom prst="rect">
            <a:avLst/>
          </a:prstGeom>
          <a:noFill/>
          <a:ln/>
        </p:spPr>
        <p:txBody>
          <a:bodyPr wrap="square" rtlCol="0" anchor="t"/>
          <a:lstStyle/>
          <a:p>
            <a:pPr marL="0" indent="0">
              <a:lnSpc>
                <a:spcPct val="115000"/>
              </a:lnSpc>
              <a:buNone/>
            </a:pPr>
            <a:r>
              <a:rPr lang="en-US" sz="1150" dirty="0">
                <a:solidFill>
                  <a:srgbClr val="444444"/>
                </a:solidFill>
                <a:latin typeface="Calibri" pitchFamily="34" charset="0"/>
                <a:ea typeface="Calibri" pitchFamily="34" charset="-122"/>
                <a:cs typeface="Calibri" pitchFamily="34" charset="-120"/>
              </a:rPr>
              <a:t>Người học có thể mở rộng xem nguồn, hoặc bỏ qua câu trả lời nếu không dùng được. Điểm yếu: nếu vẫn chưa rõ thì vẫn phải quay lại chờ hỏi coach như trước.</a:t>
            </a:r>
            <a:endParaRPr lang="en-US" sz="1150" dirty="0"/>
          </a:p>
        </p:txBody>
      </p:sp>
      <p:sp>
        <p:nvSpPr>
          <p:cNvPr id="21" name="Shape 19"/>
          <p:cNvSpPr/>
          <p:nvPr/>
        </p:nvSpPr>
        <p:spPr>
          <a:xfrm>
            <a:off x="11475720" y="6263640"/>
            <a:ext cx="457200" cy="457200"/>
          </a:xfrm>
          <a:prstGeom prst="ellipse">
            <a:avLst/>
          </a:prstGeom>
          <a:solidFill>
            <a:srgbClr val="FFFFFF"/>
          </a:solidFill>
          <a:ln w="28575">
            <a:solidFill>
              <a:srgbClr val="2B2B2B"/>
            </a:solidFill>
            <a:prstDash val="solid"/>
          </a:ln>
        </p:spPr>
      </p:sp>
      <p:sp>
        <p:nvSpPr>
          <p:cNvPr id="22" name="Text 20"/>
          <p:cNvSpPr/>
          <p:nvPr/>
        </p:nvSpPr>
        <p:spPr>
          <a:xfrm>
            <a:off x="11475720" y="6263640"/>
            <a:ext cx="457200" cy="457200"/>
          </a:xfrm>
          <a:prstGeom prst="rect">
            <a:avLst/>
          </a:prstGeom>
          <a:noFill/>
          <a:ln/>
        </p:spPr>
        <p:txBody>
          <a:bodyPr wrap="square"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7</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20000">
            <a:off x="502920" y="411480"/>
            <a:ext cx="3566160" cy="457200"/>
          </a:xfrm>
          <a:prstGeom prst="roundRect">
            <a:avLst>
              <a:gd name="adj" fmla="val 50000"/>
            </a:avLst>
          </a:prstGeom>
          <a:solidFill>
            <a:srgbClr val="FF6B54"/>
          </a:solidFill>
          <a:ln w="25400">
            <a:solidFill>
              <a:srgbClr val="2B2B2B"/>
            </a:solidFill>
            <a:prstDash val="solid"/>
          </a:ln>
          <a:effectLst>
            <a:outerShdw blurRad="101600" dist="50800" dir="2700000" algn="bl" rotWithShape="0">
              <a:srgbClr val="2B2B2B">
                <a:alpha val="80000"/>
              </a:srgbClr>
            </a:outerShdw>
          </a:effectLst>
        </p:spPr>
      </p:sp>
      <p:sp>
        <p:nvSpPr>
          <p:cNvPr id="3" name="Text 1"/>
          <p:cNvSpPr/>
          <p:nvPr/>
        </p:nvSpPr>
        <p:spPr>
          <a:xfrm rot="-120000">
            <a:off x="502920" y="411480"/>
            <a:ext cx="3566160" cy="4572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07  ·  CÁCH CHÚNG TÔI TEST</a:t>
            </a:r>
            <a:endParaRPr lang="en-US" sz="1150" dirty="0"/>
          </a:p>
        </p:txBody>
      </p:sp>
      <p:sp>
        <p:nvSpPr>
          <p:cNvPr id="4" name="Text 2"/>
          <p:cNvSpPr/>
          <p:nvPr/>
        </p:nvSpPr>
        <p:spPr>
          <a:xfrm>
            <a:off x="502920" y="960120"/>
            <a:ext cx="10789920" cy="640080"/>
          </a:xfrm>
          <a:prstGeom prst="rect">
            <a:avLst/>
          </a:prstGeom>
          <a:noFill/>
          <a:ln/>
        </p:spPr>
        <p:txBody>
          <a:bodyPr wrap="square" rtlCol="0" anchor="t"/>
          <a:lstStyle/>
          <a:p>
            <a:pPr marL="0" indent="0" algn="l">
              <a:buNone/>
            </a:pPr>
            <a:r>
              <a:rPr lang="en-US" sz="2300" b="1" dirty="0">
                <a:solidFill>
                  <a:srgbClr val="2B2B2B"/>
                </a:solidFill>
                <a:latin typeface="Calibri" pitchFamily="34" charset="0"/>
                <a:ea typeface="Calibri" pitchFamily="34" charset="-122"/>
                <a:cs typeface="Calibri" pitchFamily="34" charset="-120"/>
              </a:rPr>
              <a:t>Cùng một bài toán, cùng một nhiệm vụ, luật thử rõ ràng</a:t>
            </a:r>
            <a:endParaRPr lang="en-US" sz="2300" dirty="0"/>
          </a:p>
        </p:txBody>
      </p:sp>
      <p:sp>
        <p:nvSpPr>
          <p:cNvPr id="5" name="Shape 3"/>
          <p:cNvSpPr/>
          <p:nvPr/>
        </p:nvSpPr>
        <p:spPr>
          <a:xfrm rot="-24000">
            <a:off x="640080" y="1691640"/>
            <a:ext cx="10515600" cy="1280160"/>
          </a:xfrm>
          <a:prstGeom prst="roundRect">
            <a:avLst>
              <a:gd name="adj" fmla="val 8571"/>
            </a:avLst>
          </a:prstGeom>
          <a:solidFill>
            <a:srgbClr val="FFF3D2"/>
          </a:solidFill>
          <a:ln w="28575">
            <a:solidFill>
              <a:srgbClr val="2B2B2B"/>
            </a:solidFill>
            <a:prstDash val="solid"/>
          </a:ln>
          <a:effectLst>
            <a:outerShdw blurRad="101600" dist="63500" dir="2700000" algn="bl" rotWithShape="0">
              <a:srgbClr val="2B2B2B">
                <a:alpha val="85000"/>
              </a:srgbClr>
            </a:outerShdw>
          </a:effectLst>
        </p:spPr>
      </p:sp>
      <p:sp>
        <p:nvSpPr>
          <p:cNvPr id="6" name="Text 4"/>
          <p:cNvSpPr/>
          <p:nvPr/>
        </p:nvSpPr>
        <p:spPr>
          <a:xfrm rot="-24000">
            <a:off x="960120" y="1783080"/>
            <a:ext cx="9875520" cy="1097280"/>
          </a:xfrm>
          <a:prstGeom prst="rect">
            <a:avLst/>
          </a:prstGeom>
          <a:noFill/>
          <a:ln/>
        </p:spPr>
        <p:txBody>
          <a:bodyPr wrap="square" rtlCol="0" anchor="ctr"/>
          <a:lstStyle/>
          <a:p>
            <a:pPr marL="0" indent="0">
              <a:lnSpc>
                <a:spcPct val="115000"/>
              </a:lnSpc>
              <a:buNone/>
            </a:pPr>
            <a:r>
              <a:rPr lang="en-US" sz="1250" b="1" i="1" dirty="0">
                <a:solidFill>
                  <a:srgbClr val="2B2B2B"/>
                </a:solidFill>
                <a:latin typeface="Calibri" pitchFamily="34" charset="0"/>
                <a:ea typeface="Calibri" pitchFamily="34" charset="-122"/>
                <a:cs typeface="Calibri" pitchFamily="34" charset="-120"/>
              </a:rPr>
              <a:t>Cả 3 bản dùng chung một tình huống: lỗi cài đặt môi trường ở bước 3 của bài lab. Cùng một câu trả lời gốc do AI tạo ra, gồm 3 ý — 2 ý tìm thấy được trong slide 4 và slide 7, còn 1 ý thì bài học không hề nhắc tới. Cùng một bộ tài liệu khóa học.</a:t>
            </a:r>
            <a:endParaRPr lang="en-US" sz="1250" dirty="0"/>
          </a:p>
        </p:txBody>
      </p:sp>
      <p:sp>
        <p:nvSpPr>
          <p:cNvPr id="7" name="Shape 5"/>
          <p:cNvSpPr/>
          <p:nvPr/>
        </p:nvSpPr>
        <p:spPr>
          <a:xfrm>
            <a:off x="640080" y="3246120"/>
            <a:ext cx="457200" cy="457200"/>
          </a:xfrm>
          <a:prstGeom prst="ellipse">
            <a:avLst/>
          </a:prstGeom>
          <a:solidFill>
            <a:srgbClr val="FF6B54"/>
          </a:solidFill>
          <a:ln w="31750">
            <a:solidFill>
              <a:srgbClr val="2B2B2B"/>
            </a:solidFill>
            <a:prstDash val="solid"/>
          </a:ln>
          <a:effectLst>
            <a:outerShdw blurRad="101600" dist="38100" dir="2700000" algn="bl" rotWithShape="0">
              <a:srgbClr val="2B2B2B">
                <a:alpha val="60000"/>
              </a:srgbClr>
            </a:outerShdw>
          </a:effectLst>
        </p:spPr>
      </p:sp>
      <p:sp>
        <p:nvSpPr>
          <p:cNvPr id="8" name="Text 6"/>
          <p:cNvSpPr/>
          <p:nvPr/>
        </p:nvSpPr>
        <p:spPr>
          <a:xfrm>
            <a:off x="640080" y="3246120"/>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1280160" y="3246120"/>
            <a:ext cx="9875520" cy="457200"/>
          </a:xfrm>
          <a:prstGeom prst="rect">
            <a:avLst/>
          </a:prstGeom>
          <a:noFill/>
          <a:ln/>
        </p:spPr>
        <p:txBody>
          <a:bodyPr wrap="square" rtlCol="0" anchor="ctr"/>
          <a:lstStyle/>
          <a:p>
            <a:pPr marL="0" indent="0">
              <a:buNone/>
            </a:pPr>
            <a:r>
              <a:rPr lang="en-US" sz="1400" dirty="0">
                <a:solidFill>
                  <a:srgbClr val="2B2B2B"/>
                </a:solidFill>
                <a:latin typeface="Calibri" pitchFamily="34" charset="0"/>
                <a:ea typeface="Calibri" pitchFamily="34" charset="-122"/>
                <a:cs typeface="Calibri" pitchFamily="34" charset="-120"/>
              </a:rPr>
              <a:t>Giao nhiệm vụ theo kết quả cần đạt, không chỉ nút cần bấm — được dừng nếu chưa chắc</a:t>
            </a:r>
            <a:endParaRPr lang="en-US" sz="1400" dirty="0"/>
          </a:p>
        </p:txBody>
      </p:sp>
      <p:sp>
        <p:nvSpPr>
          <p:cNvPr id="10" name="Shape 8"/>
          <p:cNvSpPr/>
          <p:nvPr/>
        </p:nvSpPr>
        <p:spPr>
          <a:xfrm>
            <a:off x="640080" y="3867912"/>
            <a:ext cx="457200" cy="457200"/>
          </a:xfrm>
          <a:prstGeom prst="ellipse">
            <a:avLst/>
          </a:prstGeom>
          <a:solidFill>
            <a:srgbClr val="2AA39D"/>
          </a:solidFill>
          <a:ln w="31750">
            <a:solidFill>
              <a:srgbClr val="2B2B2B"/>
            </a:solidFill>
            <a:prstDash val="solid"/>
          </a:ln>
          <a:effectLst>
            <a:outerShdw blurRad="101600" dist="38100" dir="2700000" algn="bl" rotWithShape="0">
              <a:srgbClr val="2B2B2B">
                <a:alpha val="60000"/>
              </a:srgbClr>
            </a:outerShdw>
          </a:effectLst>
        </p:spPr>
      </p:sp>
      <p:sp>
        <p:nvSpPr>
          <p:cNvPr id="11" name="Text 9"/>
          <p:cNvSpPr/>
          <p:nvPr/>
        </p:nvSpPr>
        <p:spPr>
          <a:xfrm>
            <a:off x="640080" y="3867912"/>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280160" y="3867912"/>
            <a:ext cx="9875520" cy="457200"/>
          </a:xfrm>
          <a:prstGeom prst="rect">
            <a:avLst/>
          </a:prstGeom>
          <a:noFill/>
          <a:ln/>
        </p:spPr>
        <p:txBody>
          <a:bodyPr wrap="square" rtlCol="0" anchor="ctr"/>
          <a:lstStyle/>
          <a:p>
            <a:pPr marL="0" indent="0">
              <a:buNone/>
            </a:pPr>
            <a:r>
              <a:rPr lang="en-US" sz="1400" dirty="0">
                <a:solidFill>
                  <a:srgbClr val="2B2B2B"/>
                </a:solidFill>
                <a:latin typeface="Calibri" pitchFamily="34" charset="0"/>
                <a:ea typeface="Calibri" pitchFamily="34" charset="-122"/>
                <a:cs typeface="Calibri" pitchFamily="34" charset="-120"/>
              </a:rPr>
              <a:t>Đổi thứ tự A, B, C giữa mỗi người, chỉ gọi tên A/B/C — không nói trước cách hoạt động</a:t>
            </a:r>
            <a:endParaRPr lang="en-US" sz="1400" dirty="0"/>
          </a:p>
        </p:txBody>
      </p:sp>
      <p:sp>
        <p:nvSpPr>
          <p:cNvPr id="13" name="Shape 11"/>
          <p:cNvSpPr/>
          <p:nvPr/>
        </p:nvSpPr>
        <p:spPr>
          <a:xfrm>
            <a:off x="640080" y="4489704"/>
            <a:ext cx="457200" cy="457200"/>
          </a:xfrm>
          <a:prstGeom prst="ellipse">
            <a:avLst/>
          </a:prstGeom>
          <a:solidFill>
            <a:srgbClr val="FF6B54"/>
          </a:solidFill>
          <a:ln w="31750">
            <a:solidFill>
              <a:srgbClr val="2B2B2B"/>
            </a:solidFill>
            <a:prstDash val="solid"/>
          </a:ln>
          <a:effectLst>
            <a:outerShdw blurRad="101600" dist="38100" dir="2700000" algn="bl" rotWithShape="0">
              <a:srgbClr val="2B2B2B">
                <a:alpha val="60000"/>
              </a:srgbClr>
            </a:outerShdw>
          </a:effectLst>
        </p:spPr>
      </p:sp>
      <p:sp>
        <p:nvSpPr>
          <p:cNvPr id="14" name="Text 12"/>
          <p:cNvSpPr/>
          <p:nvPr/>
        </p:nvSpPr>
        <p:spPr>
          <a:xfrm>
            <a:off x="640080" y="4489704"/>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1280160" y="4489704"/>
            <a:ext cx="9875520" cy="457200"/>
          </a:xfrm>
          <a:prstGeom prst="rect">
            <a:avLst/>
          </a:prstGeom>
          <a:noFill/>
          <a:ln/>
        </p:spPr>
        <p:txBody>
          <a:bodyPr wrap="square" rtlCol="0" anchor="ctr"/>
          <a:lstStyle/>
          <a:p>
            <a:pPr marL="0" indent="0">
              <a:buNone/>
            </a:pPr>
            <a:r>
              <a:rPr lang="en-US" sz="1400" dirty="0">
                <a:solidFill>
                  <a:srgbClr val="2B2B2B"/>
                </a:solidFill>
                <a:latin typeface="Calibri" pitchFamily="34" charset="0"/>
                <a:ea typeface="Calibri" pitchFamily="34" charset="-122"/>
                <a:cs typeface="Calibri" pitchFamily="34" charset="-120"/>
              </a:rPr>
              <a:t>Không giải thích chữ trên màn hình, không hỏi người thử thích hay không thích</a:t>
            </a:r>
            <a:endParaRPr lang="en-US" sz="1400" dirty="0"/>
          </a:p>
        </p:txBody>
      </p:sp>
      <p:sp>
        <p:nvSpPr>
          <p:cNvPr id="16" name="Shape 14"/>
          <p:cNvSpPr/>
          <p:nvPr/>
        </p:nvSpPr>
        <p:spPr>
          <a:xfrm>
            <a:off x="640080" y="5111496"/>
            <a:ext cx="457200" cy="457200"/>
          </a:xfrm>
          <a:prstGeom prst="ellipse">
            <a:avLst/>
          </a:prstGeom>
          <a:solidFill>
            <a:srgbClr val="2AA39D"/>
          </a:solidFill>
          <a:ln w="31750">
            <a:solidFill>
              <a:srgbClr val="2B2B2B"/>
            </a:solidFill>
            <a:prstDash val="solid"/>
          </a:ln>
          <a:effectLst>
            <a:outerShdw blurRad="101600" dist="38100" dir="2700000" algn="bl" rotWithShape="0">
              <a:srgbClr val="2B2B2B">
                <a:alpha val="60000"/>
              </a:srgbClr>
            </a:outerShdw>
          </a:effectLst>
        </p:spPr>
      </p:sp>
      <p:sp>
        <p:nvSpPr>
          <p:cNvPr id="17" name="Text 15"/>
          <p:cNvSpPr/>
          <p:nvPr/>
        </p:nvSpPr>
        <p:spPr>
          <a:xfrm>
            <a:off x="640080" y="5111496"/>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p:nvPr/>
        </p:nvSpPr>
        <p:spPr>
          <a:xfrm>
            <a:off x="1280160" y="5111496"/>
            <a:ext cx="9875520" cy="457200"/>
          </a:xfrm>
          <a:prstGeom prst="rect">
            <a:avLst/>
          </a:prstGeom>
          <a:noFill/>
          <a:ln/>
        </p:spPr>
        <p:txBody>
          <a:bodyPr wrap="square" rtlCol="0" anchor="ctr"/>
          <a:lstStyle/>
          <a:p>
            <a:pPr marL="0" indent="0">
              <a:buNone/>
            </a:pPr>
            <a:r>
              <a:rPr lang="en-US" sz="1400" dirty="0">
                <a:solidFill>
                  <a:srgbClr val="2B2B2B"/>
                </a:solidFill>
                <a:latin typeface="Calibri" pitchFamily="34" charset="0"/>
                <a:ea typeface="Calibri" pitchFamily="34" charset="-122"/>
                <a:cs typeface="Calibri" pitchFamily="34" charset="-120"/>
              </a:rPr>
              <a:t>Có 5 câu tuyệt đối không hỏi (vd “bản nào tốt nhất”) — luôn có câu khác thay thế</a:t>
            </a:r>
            <a:endParaRPr lang="en-US" sz="1400" dirty="0"/>
          </a:p>
        </p:txBody>
      </p:sp>
      <p:sp>
        <p:nvSpPr>
          <p:cNvPr id="19" name="Shape 17"/>
          <p:cNvSpPr/>
          <p:nvPr/>
        </p:nvSpPr>
        <p:spPr>
          <a:xfrm rot="90000">
            <a:off x="7863840" y="5989320"/>
            <a:ext cx="3291840" cy="502920"/>
          </a:xfrm>
          <a:prstGeom prst="roundRect">
            <a:avLst>
              <a:gd name="adj" fmla="val 50000"/>
            </a:avLst>
          </a:prstGeom>
          <a:solidFill>
            <a:srgbClr val="3FA34D"/>
          </a:solidFill>
          <a:ln w="25400">
            <a:solidFill>
              <a:srgbClr val="2B2B2B"/>
            </a:solidFill>
            <a:prstDash val="solid"/>
          </a:ln>
        </p:spPr>
      </p:sp>
      <p:sp>
        <p:nvSpPr>
          <p:cNvPr id="20" name="Text 18"/>
          <p:cNvSpPr/>
          <p:nvPr/>
        </p:nvSpPr>
        <p:spPr>
          <a:xfrm rot="90000">
            <a:off x="7863840" y="5989320"/>
            <a:ext cx="329184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 buổi test độc lập</a:t>
            </a:r>
            <a:endParaRPr lang="en-US" sz="1300" dirty="0"/>
          </a:p>
        </p:txBody>
      </p:sp>
      <p:sp>
        <p:nvSpPr>
          <p:cNvPr id="21" name="Shape 19"/>
          <p:cNvSpPr/>
          <p:nvPr/>
        </p:nvSpPr>
        <p:spPr>
          <a:xfrm>
            <a:off x="11475720" y="6263640"/>
            <a:ext cx="457200" cy="457200"/>
          </a:xfrm>
          <a:prstGeom prst="ellipse">
            <a:avLst/>
          </a:prstGeom>
          <a:solidFill>
            <a:srgbClr val="FFFFFF"/>
          </a:solidFill>
          <a:ln w="28575">
            <a:solidFill>
              <a:srgbClr val="2B2B2B"/>
            </a:solidFill>
            <a:prstDash val="solid"/>
          </a:ln>
        </p:spPr>
      </p:sp>
      <p:sp>
        <p:nvSpPr>
          <p:cNvPr id="22" name="Text 20"/>
          <p:cNvSpPr/>
          <p:nvPr/>
        </p:nvSpPr>
        <p:spPr>
          <a:xfrm>
            <a:off x="11475720" y="6263640"/>
            <a:ext cx="457200" cy="457200"/>
          </a:xfrm>
          <a:prstGeom prst="rect">
            <a:avLst/>
          </a:prstGeom>
          <a:noFill/>
          <a:ln/>
        </p:spPr>
        <p:txBody>
          <a:bodyPr wrap="square"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8</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20000">
            <a:off x="502920" y="411480"/>
            <a:ext cx="3566160" cy="457200"/>
          </a:xfrm>
          <a:prstGeom prst="roundRect">
            <a:avLst>
              <a:gd name="adj" fmla="val 50000"/>
            </a:avLst>
          </a:prstGeom>
          <a:solidFill>
            <a:srgbClr val="3FA34D"/>
          </a:solidFill>
          <a:ln w="25400">
            <a:solidFill>
              <a:srgbClr val="2B2B2B"/>
            </a:solidFill>
            <a:prstDash val="solid"/>
          </a:ln>
          <a:effectLst>
            <a:outerShdw blurRad="101600" dist="50800" dir="2700000" algn="bl" rotWithShape="0">
              <a:srgbClr val="2B2B2B">
                <a:alpha val="80000"/>
              </a:srgbClr>
            </a:outerShdw>
          </a:effectLst>
        </p:spPr>
      </p:sp>
      <p:sp>
        <p:nvSpPr>
          <p:cNvPr id="3" name="Text 1"/>
          <p:cNvSpPr/>
          <p:nvPr/>
        </p:nvSpPr>
        <p:spPr>
          <a:xfrm rot="-120000">
            <a:off x="502920" y="411480"/>
            <a:ext cx="3566160" cy="4572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08  ·  KẾT QUẢ</a:t>
            </a:r>
            <a:endParaRPr lang="en-US" sz="1150" dirty="0"/>
          </a:p>
        </p:txBody>
      </p:sp>
      <p:sp>
        <p:nvSpPr>
          <p:cNvPr id="4" name="Text 2"/>
          <p:cNvSpPr/>
          <p:nvPr/>
        </p:nvSpPr>
        <p:spPr>
          <a:xfrm>
            <a:off x="502920" y="960120"/>
            <a:ext cx="10789920" cy="868680"/>
          </a:xfrm>
          <a:prstGeom prst="rect">
            <a:avLst/>
          </a:prstGeom>
          <a:noFill/>
          <a:ln/>
        </p:spPr>
        <p:txBody>
          <a:bodyPr wrap="square" rtlCol="0" anchor="t"/>
          <a:lstStyle/>
          <a:p>
            <a:pPr marL="0" indent="0" algn="l">
              <a:buNone/>
            </a:pPr>
            <a:r>
              <a:rPr lang="en-US" sz="2700" b="1" dirty="0">
                <a:solidFill>
                  <a:srgbClr val="2B2B2B"/>
                </a:solidFill>
                <a:latin typeface="Calibri" pitchFamily="34" charset="0"/>
                <a:ea typeface="Calibri" pitchFamily="34" charset="-122"/>
                <a:cs typeface="Calibri" pitchFamily="34" charset="-120"/>
              </a:rPr>
              <a:t>3 trên 3 người thử đều chọn Option A</a:t>
            </a:r>
            <a:endParaRPr lang="en-US" sz="2700" dirty="0"/>
          </a:p>
        </p:txBody>
      </p:sp>
      <p:sp>
        <p:nvSpPr>
          <p:cNvPr id="5" name="Shape 3"/>
          <p:cNvSpPr/>
          <p:nvPr/>
        </p:nvSpPr>
        <p:spPr>
          <a:xfrm rot="-180000">
            <a:off x="777240" y="1965960"/>
            <a:ext cx="2377440" cy="2377440"/>
          </a:xfrm>
          <a:prstGeom prst="ellipse">
            <a:avLst/>
          </a:prstGeom>
          <a:solidFill>
            <a:srgbClr val="FFE28A"/>
          </a:solidFill>
          <a:ln w="38100">
            <a:solidFill>
              <a:srgbClr val="2B2B2B"/>
            </a:solidFill>
            <a:prstDash val="solid"/>
          </a:ln>
          <a:effectLst>
            <a:outerShdw blurRad="101600" dist="76200" dir="2700000" algn="bl" rotWithShape="0">
              <a:srgbClr val="2B2B2B">
                <a:alpha val="85000"/>
              </a:srgbClr>
            </a:outerShdw>
          </a:effectLst>
        </p:spPr>
      </p:sp>
      <p:sp>
        <p:nvSpPr>
          <p:cNvPr id="6" name="Text 4"/>
          <p:cNvSpPr/>
          <p:nvPr/>
        </p:nvSpPr>
        <p:spPr>
          <a:xfrm rot="-180000">
            <a:off x="777240" y="1965960"/>
            <a:ext cx="2377440" cy="2377440"/>
          </a:xfrm>
          <a:prstGeom prst="rect">
            <a:avLst/>
          </a:prstGeom>
          <a:noFill/>
          <a:ln/>
        </p:spPr>
        <p:txBody>
          <a:bodyPr wrap="square" rtlCol="0" anchor="ctr"/>
          <a:lstStyle/>
          <a:p>
            <a:pPr marL="0" indent="0" algn="ctr">
              <a:buNone/>
            </a:pPr>
            <a:r>
              <a:rPr lang="en-US" sz="4600" b="1" dirty="0">
                <a:solidFill>
                  <a:srgbClr val="E14C36"/>
                </a:solidFill>
                <a:latin typeface="Calibri" pitchFamily="34" charset="0"/>
                <a:ea typeface="Calibri" pitchFamily="34" charset="-122"/>
                <a:cs typeface="Calibri" pitchFamily="34" charset="-120"/>
              </a:rPr>
              <a:t>3/3</a:t>
            </a:r>
            <a:endParaRPr lang="en-US" sz="4600" dirty="0"/>
          </a:p>
        </p:txBody>
      </p:sp>
      <p:sp>
        <p:nvSpPr>
          <p:cNvPr id="7" name="Shape 5"/>
          <p:cNvSpPr/>
          <p:nvPr/>
        </p:nvSpPr>
        <p:spPr>
          <a:xfrm rot="36000">
            <a:off x="3520440" y="1965960"/>
            <a:ext cx="7635240" cy="1965960"/>
          </a:xfrm>
          <a:prstGeom prst="roundRect">
            <a:avLst>
              <a:gd name="adj" fmla="val 5581"/>
            </a:avLst>
          </a:prstGeom>
          <a:solidFill>
            <a:srgbClr val="FFFFFF"/>
          </a:solidFill>
          <a:ln w="28575">
            <a:solidFill>
              <a:srgbClr val="2B2B2B"/>
            </a:solidFill>
            <a:prstDash val="solid"/>
          </a:ln>
          <a:effectLst>
            <a:outerShdw blurRad="101600" dist="63500" dir="2700000" algn="bl" rotWithShape="0">
              <a:srgbClr val="2B2B2B">
                <a:alpha val="85000"/>
              </a:srgbClr>
            </a:outerShdw>
          </a:effectLst>
        </p:spPr>
      </p:sp>
      <p:sp>
        <p:nvSpPr>
          <p:cNvPr id="8" name="Text 6"/>
          <p:cNvSpPr/>
          <p:nvPr/>
        </p:nvSpPr>
        <p:spPr>
          <a:xfrm rot="36000">
            <a:off x="3840480" y="2148840"/>
            <a:ext cx="7040880" cy="914400"/>
          </a:xfrm>
          <a:prstGeom prst="rect">
            <a:avLst/>
          </a:prstGeom>
          <a:noFill/>
          <a:ln/>
        </p:spPr>
        <p:txBody>
          <a:bodyPr wrap="square" rtlCol="0" anchor="t"/>
          <a:lstStyle/>
          <a:p>
            <a:pPr marL="0" indent="0">
              <a:lnSpc>
                <a:spcPct val="120000"/>
              </a:lnSpc>
              <a:buNone/>
            </a:pPr>
            <a:r>
              <a:rPr lang="en-US" sz="1450" b="1" dirty="0">
                <a:solidFill>
                  <a:srgbClr val="2B2B2B"/>
                </a:solidFill>
                <a:latin typeface="Calibri" pitchFamily="34" charset="0"/>
                <a:ea typeface="Calibri" pitchFamily="34" charset="-122"/>
                <a:cs typeface="Calibri" pitchFamily="34" charset="-120"/>
              </a:rPr>
              <a:t>Việc đầu tiên họ làm (ở cả 2 buổi có ghi lại đầy đủ): bấm ngay vào phần trích dẫn để TỰ KIỂM TRA, chứ không đọc lướt rồi tin ngay.</a:t>
            </a:r>
            <a:endParaRPr lang="en-US" sz="1450" dirty="0"/>
          </a:p>
        </p:txBody>
      </p:sp>
      <p:sp>
        <p:nvSpPr>
          <p:cNvPr id="9" name="Text 7"/>
          <p:cNvSpPr/>
          <p:nvPr/>
        </p:nvSpPr>
        <p:spPr>
          <a:xfrm rot="36000">
            <a:off x="3840480" y="3063240"/>
            <a:ext cx="7040880" cy="777240"/>
          </a:xfrm>
          <a:prstGeom prst="rect">
            <a:avLst/>
          </a:prstGeom>
          <a:noFill/>
          <a:ln/>
        </p:spPr>
        <p:txBody>
          <a:bodyPr wrap="square" rtlCol="0" anchor="t"/>
          <a:lstStyle/>
          <a:p>
            <a:pPr marL="0" indent="0">
              <a:buNone/>
            </a:pPr>
            <a:r>
              <a:rPr lang="en-US" sz="1350" i="1" dirty="0">
                <a:solidFill>
                  <a:srgbClr val="E14C36"/>
                </a:solidFill>
                <a:latin typeface="Calibri" pitchFamily="34" charset="0"/>
                <a:ea typeface="Calibri" pitchFamily="34" charset="-122"/>
                <a:cs typeface="Calibri" pitchFamily="34" charset="-120"/>
              </a:rPr>
              <a:t>"Cách này giúp mình dễ tin tưởng và học tiếp hơn."</a:t>
            </a:r>
            <a:endParaRPr lang="en-US" sz="1350" dirty="0"/>
          </a:p>
        </p:txBody>
      </p:sp>
      <p:sp>
        <p:nvSpPr>
          <p:cNvPr id="10" name="Shape 8"/>
          <p:cNvSpPr/>
          <p:nvPr/>
        </p:nvSpPr>
        <p:spPr>
          <a:xfrm rot="-48000">
            <a:off x="640080" y="4617720"/>
            <a:ext cx="5212080" cy="1874520"/>
          </a:xfrm>
          <a:prstGeom prst="roundRect">
            <a:avLst>
              <a:gd name="adj" fmla="val 5854"/>
            </a:avLst>
          </a:prstGeom>
          <a:solidFill>
            <a:srgbClr val="FFFFFF"/>
          </a:solidFill>
          <a:ln w="28575">
            <a:solidFill>
              <a:srgbClr val="2B2B2B"/>
            </a:solidFill>
            <a:prstDash val="solid"/>
          </a:ln>
          <a:effectLst>
            <a:outerShdw blurRad="101600" dist="63500" dir="2700000" algn="bl" rotWithShape="0">
              <a:srgbClr val="2B2B2B">
                <a:alpha val="85000"/>
              </a:srgbClr>
            </a:outerShdw>
          </a:effectLst>
        </p:spPr>
      </p:sp>
      <p:sp>
        <p:nvSpPr>
          <p:cNvPr id="11" name="Text 9"/>
          <p:cNvSpPr/>
          <p:nvPr/>
        </p:nvSpPr>
        <p:spPr>
          <a:xfrm rot="-48000">
            <a:off x="713232" y="4416552"/>
            <a:ext cx="731520" cy="822960"/>
          </a:xfrm>
          <a:prstGeom prst="rect">
            <a:avLst/>
          </a:prstGeom>
          <a:noFill/>
          <a:ln/>
        </p:spPr>
        <p:txBody>
          <a:bodyPr wrap="square" rtlCol="0" anchor="t"/>
          <a:lstStyle/>
          <a:p>
            <a:pPr marL="0" indent="0" algn="l">
              <a:buNone/>
            </a:pPr>
            <a:r>
              <a:rPr lang="en-US" sz="5400" b="1" dirty="0">
                <a:solidFill>
                  <a:srgbClr val="FF6B54"/>
                </a:solidFill>
                <a:latin typeface="Calibri" pitchFamily="34" charset="0"/>
                <a:ea typeface="Calibri" pitchFamily="34" charset="-122"/>
                <a:cs typeface="Calibri" pitchFamily="34" charset="-120"/>
              </a:rPr>
              <a:t>"</a:t>
            </a:r>
            <a:endParaRPr lang="en-US" sz="5400" dirty="0"/>
          </a:p>
        </p:txBody>
      </p:sp>
      <p:sp>
        <p:nvSpPr>
          <p:cNvPr id="12" name="Text 10"/>
          <p:cNvSpPr/>
          <p:nvPr/>
        </p:nvSpPr>
        <p:spPr>
          <a:xfrm rot="-48000">
            <a:off x="914400" y="4910328"/>
            <a:ext cx="4709160" cy="1188720"/>
          </a:xfrm>
          <a:prstGeom prst="rect">
            <a:avLst/>
          </a:prstGeom>
          <a:noFill/>
          <a:ln/>
        </p:spPr>
        <p:txBody>
          <a:bodyPr wrap="square" rtlCol="0" anchor="t"/>
          <a:lstStyle/>
          <a:p>
            <a:pPr marL="0" indent="0" algn="l">
              <a:lnSpc>
                <a:spcPct val="112000"/>
              </a:lnSpc>
              <a:buNone/>
            </a:pPr>
            <a:r>
              <a:rPr lang="en-US" sz="1300" i="1" dirty="0">
                <a:solidFill>
                  <a:srgbClr val="2B2B2B"/>
                </a:solidFill>
                <a:latin typeface="Calibri" pitchFamily="34" charset="0"/>
                <a:ea typeface="Calibri" pitchFamily="34" charset="-122"/>
                <a:cs typeface="Calibri" pitchFamily="34" charset="-120"/>
              </a:rPr>
              <a:t>Bản B còn mập mờ — không rõ chuyện gì xảy ra trong lúc chờ coach trả lời.</a:t>
            </a:r>
            <a:endParaRPr lang="en-US" sz="1300" dirty="0"/>
          </a:p>
        </p:txBody>
      </p:sp>
      <p:sp>
        <p:nvSpPr>
          <p:cNvPr id="13" name="Text 11"/>
          <p:cNvSpPr/>
          <p:nvPr/>
        </p:nvSpPr>
        <p:spPr>
          <a:xfrm rot="-48000">
            <a:off x="914400" y="6035040"/>
            <a:ext cx="4709160" cy="365760"/>
          </a:xfrm>
          <a:prstGeom prst="rect">
            <a:avLst/>
          </a:prstGeom>
          <a:noFill/>
          <a:ln/>
        </p:spPr>
        <p:txBody>
          <a:bodyPr wrap="square" rtlCol="0" anchor="b"/>
          <a:lstStyle/>
          <a:p>
            <a:pPr marL="0" indent="0" algn="l">
              <a:buNone/>
            </a:pPr>
            <a:r>
              <a:rPr lang="en-US" sz="1150" b="1" dirty="0">
                <a:solidFill>
                  <a:srgbClr val="5B9BD5"/>
                </a:solidFill>
                <a:latin typeface="Calibri" pitchFamily="34" charset="0"/>
                <a:ea typeface="Calibri" pitchFamily="34" charset="-122"/>
                <a:cs typeface="Calibri" pitchFamily="34" charset="-120"/>
              </a:rPr>
              <a:t>Vì sao KHÔNG chọn B</a:t>
            </a:r>
            <a:endParaRPr lang="en-US" sz="1150" dirty="0"/>
          </a:p>
        </p:txBody>
      </p:sp>
      <p:sp>
        <p:nvSpPr>
          <p:cNvPr id="14" name="Shape 12"/>
          <p:cNvSpPr/>
          <p:nvPr/>
        </p:nvSpPr>
        <p:spPr>
          <a:xfrm rot="48000">
            <a:off x="6035040" y="4617720"/>
            <a:ext cx="5212080" cy="1874520"/>
          </a:xfrm>
          <a:prstGeom prst="roundRect">
            <a:avLst>
              <a:gd name="adj" fmla="val 5854"/>
            </a:avLst>
          </a:prstGeom>
          <a:solidFill>
            <a:srgbClr val="FFFFFF"/>
          </a:solidFill>
          <a:ln w="28575">
            <a:solidFill>
              <a:srgbClr val="2B2B2B"/>
            </a:solidFill>
            <a:prstDash val="solid"/>
          </a:ln>
          <a:effectLst>
            <a:outerShdw blurRad="101600" dist="63500" dir="2700000" algn="bl" rotWithShape="0">
              <a:srgbClr val="2B2B2B">
                <a:alpha val="85000"/>
              </a:srgbClr>
            </a:outerShdw>
          </a:effectLst>
        </p:spPr>
      </p:sp>
      <p:sp>
        <p:nvSpPr>
          <p:cNvPr id="15" name="Text 13"/>
          <p:cNvSpPr/>
          <p:nvPr/>
        </p:nvSpPr>
        <p:spPr>
          <a:xfrm rot="48000">
            <a:off x="6108192" y="4416552"/>
            <a:ext cx="731520" cy="822960"/>
          </a:xfrm>
          <a:prstGeom prst="rect">
            <a:avLst/>
          </a:prstGeom>
          <a:noFill/>
          <a:ln/>
        </p:spPr>
        <p:txBody>
          <a:bodyPr wrap="square" rtlCol="0" anchor="t"/>
          <a:lstStyle/>
          <a:p>
            <a:pPr marL="0" indent="0" algn="l">
              <a:buNone/>
            </a:pPr>
            <a:r>
              <a:rPr lang="en-US" sz="5400" b="1" dirty="0">
                <a:solidFill>
                  <a:srgbClr val="FF6B54"/>
                </a:solidFill>
                <a:latin typeface="Calibri" pitchFamily="34" charset="0"/>
                <a:ea typeface="Calibri" pitchFamily="34" charset="-122"/>
                <a:cs typeface="Calibri" pitchFamily="34" charset="-120"/>
              </a:rPr>
              <a:t>"</a:t>
            </a:r>
            <a:endParaRPr lang="en-US" sz="5400" dirty="0"/>
          </a:p>
        </p:txBody>
      </p:sp>
      <p:sp>
        <p:nvSpPr>
          <p:cNvPr id="16" name="Text 14"/>
          <p:cNvSpPr/>
          <p:nvPr/>
        </p:nvSpPr>
        <p:spPr>
          <a:xfrm rot="48000">
            <a:off x="6309360" y="4910328"/>
            <a:ext cx="4709160" cy="1188720"/>
          </a:xfrm>
          <a:prstGeom prst="rect">
            <a:avLst/>
          </a:prstGeom>
          <a:noFill/>
          <a:ln/>
        </p:spPr>
        <p:txBody>
          <a:bodyPr wrap="square" rtlCol="0" anchor="t"/>
          <a:lstStyle/>
          <a:p>
            <a:pPr marL="0" indent="0" algn="l">
              <a:lnSpc>
                <a:spcPct val="112000"/>
              </a:lnSpc>
              <a:buNone/>
            </a:pPr>
            <a:r>
              <a:rPr lang="en-US" sz="1250" i="1" dirty="0">
                <a:solidFill>
                  <a:srgbClr val="2B2B2B"/>
                </a:solidFill>
                <a:latin typeface="Calibri" pitchFamily="34" charset="0"/>
                <a:ea typeface="Calibri" pitchFamily="34" charset="-122"/>
                <a:cs typeface="Calibri" pitchFamily="34" charset="-120"/>
              </a:rPr>
              <a:t>AI làm hết mọi việc, nhưng cuối cùng vẫn phải tự mình quyết định tin hay không — nên có hay không cũng như nhau.</a:t>
            </a:r>
            <a:endParaRPr lang="en-US" sz="1250" dirty="0"/>
          </a:p>
        </p:txBody>
      </p:sp>
      <p:sp>
        <p:nvSpPr>
          <p:cNvPr id="17" name="Text 15"/>
          <p:cNvSpPr/>
          <p:nvPr/>
        </p:nvSpPr>
        <p:spPr>
          <a:xfrm rot="48000">
            <a:off x="6309360" y="6035040"/>
            <a:ext cx="4709160" cy="365760"/>
          </a:xfrm>
          <a:prstGeom prst="rect">
            <a:avLst/>
          </a:prstGeom>
          <a:noFill/>
          <a:ln/>
        </p:spPr>
        <p:txBody>
          <a:bodyPr wrap="square" rtlCol="0" anchor="b"/>
          <a:lstStyle/>
          <a:p>
            <a:pPr marL="0" indent="0" algn="l">
              <a:buNone/>
            </a:pPr>
            <a:r>
              <a:rPr lang="en-US" sz="1150" b="1" dirty="0">
                <a:solidFill>
                  <a:srgbClr val="B9789E"/>
                </a:solidFill>
                <a:latin typeface="Calibri" pitchFamily="34" charset="0"/>
                <a:ea typeface="Calibri" pitchFamily="34" charset="-122"/>
                <a:cs typeface="Calibri" pitchFamily="34" charset="-120"/>
              </a:rPr>
              <a:t>Vì sao KHÔNG chọn C</a:t>
            </a:r>
            <a:endParaRPr lang="en-US" sz="1150" dirty="0"/>
          </a:p>
        </p:txBody>
      </p:sp>
      <p:sp>
        <p:nvSpPr>
          <p:cNvPr id="18" name="Shape 16"/>
          <p:cNvSpPr/>
          <p:nvPr/>
        </p:nvSpPr>
        <p:spPr>
          <a:xfrm>
            <a:off x="11475720" y="6263640"/>
            <a:ext cx="457200" cy="457200"/>
          </a:xfrm>
          <a:prstGeom prst="ellipse">
            <a:avLst/>
          </a:prstGeom>
          <a:solidFill>
            <a:srgbClr val="FFFFFF"/>
          </a:solidFill>
          <a:ln w="28575">
            <a:solidFill>
              <a:srgbClr val="2B2B2B"/>
            </a:solidFill>
            <a:prstDash val="solid"/>
          </a:ln>
        </p:spPr>
      </p:sp>
      <p:sp>
        <p:nvSpPr>
          <p:cNvPr id="19" name="Text 17"/>
          <p:cNvSpPr/>
          <p:nvPr/>
        </p:nvSpPr>
        <p:spPr>
          <a:xfrm>
            <a:off x="11475720" y="6263640"/>
            <a:ext cx="457200" cy="457200"/>
          </a:xfrm>
          <a:prstGeom prst="rect">
            <a:avLst/>
          </a:prstGeom>
          <a:noFill/>
          <a:ln/>
        </p:spPr>
        <p:txBody>
          <a:bodyPr wrap="square"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9</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20000">
            <a:off x="502920" y="411480"/>
            <a:ext cx="3566160" cy="457200"/>
          </a:xfrm>
          <a:prstGeom prst="roundRect">
            <a:avLst>
              <a:gd name="adj" fmla="val 50000"/>
            </a:avLst>
          </a:prstGeom>
          <a:solidFill>
            <a:srgbClr val="FF6B54"/>
          </a:solidFill>
          <a:ln w="25400">
            <a:solidFill>
              <a:srgbClr val="2B2B2B"/>
            </a:solidFill>
            <a:prstDash val="solid"/>
          </a:ln>
          <a:effectLst>
            <a:outerShdw blurRad="101600" dist="50800" dir="2700000" algn="bl" rotWithShape="0">
              <a:srgbClr val="2B2B2B">
                <a:alpha val="80000"/>
              </a:srgbClr>
            </a:outerShdw>
          </a:effectLst>
        </p:spPr>
      </p:sp>
      <p:sp>
        <p:nvSpPr>
          <p:cNvPr id="3" name="Text 1"/>
          <p:cNvSpPr/>
          <p:nvPr/>
        </p:nvSpPr>
        <p:spPr>
          <a:xfrm rot="-120000">
            <a:off x="502920" y="411480"/>
            <a:ext cx="3566160" cy="4572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09  ·  GIỚI HẠN CẦN NÓI THẬT</a:t>
            </a:r>
            <a:endParaRPr lang="en-US" sz="1150" dirty="0"/>
          </a:p>
        </p:txBody>
      </p:sp>
      <p:sp>
        <p:nvSpPr>
          <p:cNvPr id="4" name="Text 2"/>
          <p:cNvSpPr/>
          <p:nvPr/>
        </p:nvSpPr>
        <p:spPr>
          <a:xfrm>
            <a:off x="502920" y="960120"/>
            <a:ext cx="10789920" cy="685800"/>
          </a:xfrm>
          <a:prstGeom prst="rect">
            <a:avLst/>
          </a:prstGeom>
          <a:noFill/>
          <a:ln/>
        </p:spPr>
        <p:txBody>
          <a:bodyPr wrap="square" rtlCol="0" anchor="t"/>
          <a:lstStyle/>
          <a:p>
            <a:pPr marL="0" indent="0" algn="l">
              <a:buNone/>
            </a:pPr>
            <a:r>
              <a:rPr lang="en-US" sz="2200" b="1" dirty="0">
                <a:solidFill>
                  <a:srgbClr val="2B2B2B"/>
                </a:solidFill>
                <a:latin typeface="Calibri" pitchFamily="34" charset="0"/>
                <a:ea typeface="Calibri" pitchFamily="34" charset="-122"/>
                <a:cs typeface="Calibri" pitchFamily="34" charset="-120"/>
              </a:rPr>
              <a:t>Kết quả khá rõ, nhưng nhóm chưa dám khẳng định chắc chắn</a:t>
            </a:r>
            <a:endParaRPr lang="en-US" sz="2200" dirty="0"/>
          </a:p>
        </p:txBody>
      </p:sp>
      <p:sp>
        <p:nvSpPr>
          <p:cNvPr id="5" name="Shape 3"/>
          <p:cNvSpPr/>
          <p:nvPr/>
        </p:nvSpPr>
        <p:spPr>
          <a:xfrm rot="-36000">
            <a:off x="640080" y="1828800"/>
            <a:ext cx="5166360" cy="4160520"/>
          </a:xfrm>
          <a:prstGeom prst="roundRect">
            <a:avLst>
              <a:gd name="adj" fmla="val 2637"/>
            </a:avLst>
          </a:prstGeom>
          <a:solidFill>
            <a:srgbClr val="FFFFFF"/>
          </a:solidFill>
          <a:ln w="28575">
            <a:solidFill>
              <a:srgbClr val="2B2B2B"/>
            </a:solidFill>
            <a:prstDash val="solid"/>
          </a:ln>
          <a:effectLst>
            <a:outerShdw blurRad="101600" dist="63500" dir="2700000" algn="bl" rotWithShape="0">
              <a:srgbClr val="2B2B2B">
                <a:alpha val="85000"/>
              </a:srgbClr>
            </a:outerShdw>
          </a:effectLst>
        </p:spPr>
      </p:sp>
      <p:sp>
        <p:nvSpPr>
          <p:cNvPr id="6" name="Shape 4"/>
          <p:cNvSpPr/>
          <p:nvPr/>
        </p:nvSpPr>
        <p:spPr>
          <a:xfrm rot="-36000">
            <a:off x="777240" y="2011680"/>
            <a:ext cx="3108960" cy="438912"/>
          </a:xfrm>
          <a:prstGeom prst="roundRect">
            <a:avLst>
              <a:gd name="adj" fmla="val 50000"/>
            </a:avLst>
          </a:prstGeom>
          <a:solidFill>
            <a:srgbClr val="FF6B54"/>
          </a:solidFill>
          <a:ln w="25400">
            <a:solidFill>
              <a:srgbClr val="2B2B2B"/>
            </a:solidFill>
            <a:prstDash val="solid"/>
          </a:ln>
        </p:spPr>
      </p:sp>
      <p:sp>
        <p:nvSpPr>
          <p:cNvPr id="7" name="Text 5"/>
          <p:cNvSpPr/>
          <p:nvPr/>
        </p:nvSpPr>
        <p:spPr>
          <a:xfrm rot="-36000">
            <a:off x="777240" y="2011680"/>
            <a:ext cx="3108960" cy="438912"/>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BUỔI TEST #3 LÀM SAI QUY TRÌNH</a:t>
            </a:r>
            <a:endParaRPr lang="en-US" sz="1050" dirty="0"/>
          </a:p>
        </p:txBody>
      </p:sp>
      <p:sp>
        <p:nvSpPr>
          <p:cNvPr id="8" name="Text 6"/>
          <p:cNvSpPr/>
          <p:nvPr/>
        </p:nvSpPr>
        <p:spPr>
          <a:xfrm rot="-36000">
            <a:off x="914400" y="2606040"/>
            <a:ext cx="4617720" cy="3200400"/>
          </a:xfrm>
          <a:prstGeom prst="rect">
            <a:avLst/>
          </a:prstGeom>
          <a:noFill/>
          <a:ln/>
        </p:spPr>
        <p:txBody>
          <a:bodyPr wrap="square" rtlCol="0" anchor="t"/>
          <a:lstStyle/>
          <a:p>
            <a:pPr marL="0" indent="0">
              <a:lnSpc>
                <a:spcPct val="122000"/>
              </a:lnSpc>
              <a:buNone/>
            </a:pPr>
            <a:r>
              <a:rPr lang="en-US" sz="1300" dirty="0">
                <a:solidFill>
                  <a:srgbClr val="2B2B2B"/>
                </a:solidFill>
                <a:latin typeface="Calibri" pitchFamily="34" charset="0"/>
                <a:ea typeface="Calibri" pitchFamily="34" charset="-122"/>
                <a:cs typeface="Calibri" pitchFamily="34" charset="-120"/>
              </a:rPr>
              <a:t>Người dẫn buổi đã giải thích cách hoạt động trước khi người thử tự bấm, mô tả sai Option C (nhầm sang cách hoạt động của Option B), và hỏi một câu gần giống câu bị cấm hỏi.</a:t>
            </a:r>
            <a:endParaRPr lang="en-US" sz="1300" dirty="0"/>
          </a:p>
          <a:p>
            <a:pPr marL="0" indent="0">
              <a:lnSpc>
                <a:spcPct val="122000"/>
              </a:lnSpc>
              <a:buNone/>
            </a:pPr>
            <a:endParaRPr lang="en-US" sz="1300" dirty="0"/>
          </a:p>
          <a:p>
            <a:pPr marL="0" indent="0">
              <a:lnSpc>
                <a:spcPct val="122000"/>
              </a:lnSpc>
              <a:buNone/>
            </a:pPr>
            <a:r>
              <a:rPr lang="en-US" sz="1300" b="1" dirty="0">
                <a:solidFill>
                  <a:srgbClr val="2B2B2B"/>
                </a:solidFill>
                <a:latin typeface="Calibri" pitchFamily="34" charset="0"/>
                <a:ea typeface="Calibri" pitchFamily="34" charset="-122"/>
                <a:cs typeface="Calibri" pitchFamily="34" charset="-120"/>
              </a:rPr>
              <a:t>→ Vì vậy, toàn bộ ý kiến về bản C trong buổi này chỉ được xem là tham khảo, không dùng để đánh giá thật.</a:t>
            </a:r>
            <a:endParaRPr lang="en-US" sz="1300" dirty="0"/>
          </a:p>
        </p:txBody>
      </p:sp>
      <p:sp>
        <p:nvSpPr>
          <p:cNvPr id="9" name="Shape 7"/>
          <p:cNvSpPr/>
          <p:nvPr/>
        </p:nvSpPr>
        <p:spPr>
          <a:xfrm rot="36000">
            <a:off x="6080760" y="1828800"/>
            <a:ext cx="5166360" cy="4160520"/>
          </a:xfrm>
          <a:prstGeom prst="roundRect">
            <a:avLst>
              <a:gd name="adj" fmla="val 2637"/>
            </a:avLst>
          </a:prstGeom>
          <a:solidFill>
            <a:srgbClr val="FFFFFF"/>
          </a:solidFill>
          <a:ln w="28575">
            <a:solidFill>
              <a:srgbClr val="2B2B2B"/>
            </a:solidFill>
            <a:prstDash val="solid"/>
          </a:ln>
          <a:effectLst>
            <a:outerShdw blurRad="101600" dist="63500" dir="2700000" algn="bl" rotWithShape="0">
              <a:srgbClr val="2B2B2B">
                <a:alpha val="85000"/>
              </a:srgbClr>
            </a:outerShdw>
          </a:effectLst>
        </p:spPr>
      </p:sp>
      <p:sp>
        <p:nvSpPr>
          <p:cNvPr id="10" name="Shape 8"/>
          <p:cNvSpPr/>
          <p:nvPr/>
        </p:nvSpPr>
        <p:spPr>
          <a:xfrm rot="36000">
            <a:off x="6217920" y="2011680"/>
            <a:ext cx="3840480" cy="438912"/>
          </a:xfrm>
          <a:prstGeom prst="roundRect">
            <a:avLst>
              <a:gd name="adj" fmla="val 50000"/>
            </a:avLst>
          </a:prstGeom>
          <a:solidFill>
            <a:srgbClr val="2AA39D"/>
          </a:solidFill>
          <a:ln w="25400">
            <a:solidFill>
              <a:srgbClr val="2B2B2B"/>
            </a:solidFill>
            <a:prstDash val="solid"/>
          </a:ln>
        </p:spPr>
      </p:sp>
      <p:sp>
        <p:nvSpPr>
          <p:cNvPr id="11" name="Text 9"/>
          <p:cNvSpPr/>
          <p:nvPr/>
        </p:nvSpPr>
        <p:spPr>
          <a:xfrm rot="36000">
            <a:off x="6217920" y="2011680"/>
            <a:ext cx="3840480" cy="438912"/>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CHƯA AI NÓI RÕ PHẢI ĐÁNH ĐỔI GÌ</a:t>
            </a:r>
            <a:endParaRPr lang="en-US" sz="1050" dirty="0"/>
          </a:p>
        </p:txBody>
      </p:sp>
      <p:sp>
        <p:nvSpPr>
          <p:cNvPr id="12" name="Text 10"/>
          <p:cNvSpPr/>
          <p:nvPr/>
        </p:nvSpPr>
        <p:spPr>
          <a:xfrm rot="36000">
            <a:off x="6355080" y="2606040"/>
            <a:ext cx="4617720" cy="3200400"/>
          </a:xfrm>
          <a:prstGeom prst="rect">
            <a:avLst/>
          </a:prstGeom>
          <a:noFill/>
          <a:ln/>
        </p:spPr>
        <p:txBody>
          <a:bodyPr wrap="square" rtlCol="0" anchor="t"/>
          <a:lstStyle/>
          <a:p>
            <a:pPr marL="0" indent="0">
              <a:lnSpc>
                <a:spcPct val="122000"/>
              </a:lnSpc>
              <a:buNone/>
            </a:pPr>
            <a:r>
              <a:rPr lang="en-US" sz="1300" dirty="0">
                <a:solidFill>
                  <a:srgbClr val="2B2B2B"/>
                </a:solidFill>
                <a:latin typeface="Calibri" pitchFamily="34" charset="0"/>
                <a:ea typeface="Calibri" pitchFamily="34" charset="-122"/>
                <a:cs typeface="Calibri" pitchFamily="34" charset="-120"/>
              </a:rPr>
              <a:t>Cả 3 buổi test đều nghiêng về việc chọn A, nhưng không ai tự nói ra được là chọn A thì phải đánh đổi điều gì.</a:t>
            </a:r>
            <a:endParaRPr lang="en-US" sz="1300" dirty="0"/>
          </a:p>
          <a:p>
            <a:pPr marL="0" indent="0">
              <a:lnSpc>
                <a:spcPct val="122000"/>
              </a:lnSpc>
              <a:buNone/>
            </a:pPr>
            <a:endParaRPr lang="en-US" sz="1300" dirty="0"/>
          </a:p>
          <a:p>
            <a:pPr marL="0" indent="0">
              <a:lnSpc>
                <a:spcPct val="122000"/>
              </a:lnSpc>
              <a:buNone/>
            </a:pPr>
            <a:r>
              <a:rPr lang="en-US" sz="1300" b="1" dirty="0">
                <a:solidFill>
                  <a:srgbClr val="2B2B2B"/>
                </a:solidFill>
                <a:latin typeface="Calibri" pitchFamily="34" charset="0"/>
                <a:ea typeface="Calibri" pitchFamily="34" charset="-122"/>
                <a:cs typeface="Calibri" pitchFamily="34" charset="-120"/>
              </a:rPr>
              <a:t>Theo quy tắc nhóm tự đặt ra: một lựa chọn không kèm điều phải đánh đổi thì chỉ là một lời khen, chứ chưa phải kết quả chính thức.</a:t>
            </a:r>
            <a:endParaRPr lang="en-US" sz="1300" dirty="0"/>
          </a:p>
        </p:txBody>
      </p:sp>
      <p:sp>
        <p:nvSpPr>
          <p:cNvPr id="13" name="Shape 11"/>
          <p:cNvSpPr/>
          <p:nvPr/>
        </p:nvSpPr>
        <p:spPr>
          <a:xfrm>
            <a:off x="11475720" y="6263640"/>
            <a:ext cx="457200" cy="457200"/>
          </a:xfrm>
          <a:prstGeom prst="ellipse">
            <a:avLst/>
          </a:prstGeom>
          <a:solidFill>
            <a:srgbClr val="FFFFFF"/>
          </a:solidFill>
          <a:ln w="28575">
            <a:solidFill>
              <a:srgbClr val="2B2B2B"/>
            </a:solidFill>
            <a:prstDash val="solid"/>
          </a:ln>
        </p:spPr>
      </p:sp>
      <p:sp>
        <p:nvSpPr>
          <p:cNvPr id="14" name="Text 12"/>
          <p:cNvSpPr/>
          <p:nvPr/>
        </p:nvSpPr>
        <p:spPr>
          <a:xfrm>
            <a:off x="11475720" y="6263640"/>
            <a:ext cx="457200" cy="457200"/>
          </a:xfrm>
          <a:prstGeom prst="rect">
            <a:avLst/>
          </a:prstGeom>
          <a:noFill/>
          <a:ln/>
        </p:spPr>
        <p:txBody>
          <a:bodyPr wrap="square"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10</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20000">
            <a:off x="502920" y="411480"/>
            <a:ext cx="3566160" cy="457200"/>
          </a:xfrm>
          <a:prstGeom prst="roundRect">
            <a:avLst>
              <a:gd name="adj" fmla="val 50000"/>
            </a:avLst>
          </a:prstGeom>
          <a:solidFill>
            <a:srgbClr val="FF6B54"/>
          </a:solidFill>
          <a:ln w="25400">
            <a:solidFill>
              <a:srgbClr val="2B2B2B"/>
            </a:solidFill>
            <a:prstDash val="solid"/>
          </a:ln>
          <a:effectLst>
            <a:outerShdw blurRad="101600" dist="50800" dir="2700000" algn="bl" rotWithShape="0">
              <a:srgbClr val="2B2B2B">
                <a:alpha val="80000"/>
              </a:srgbClr>
            </a:outerShdw>
          </a:effectLst>
        </p:spPr>
      </p:sp>
      <p:sp>
        <p:nvSpPr>
          <p:cNvPr id="3" name="Text 1"/>
          <p:cNvSpPr/>
          <p:nvPr/>
        </p:nvSpPr>
        <p:spPr>
          <a:xfrm rot="-120000">
            <a:off x="502920" y="411480"/>
            <a:ext cx="3566160" cy="4572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10  ·  VIỆC CẦN LÀM TIẾP THEO</a:t>
            </a:r>
            <a:endParaRPr lang="en-US" sz="1150" dirty="0"/>
          </a:p>
        </p:txBody>
      </p:sp>
      <p:sp>
        <p:nvSpPr>
          <p:cNvPr id="4" name="Text 2"/>
          <p:cNvSpPr/>
          <p:nvPr/>
        </p:nvSpPr>
        <p:spPr>
          <a:xfrm>
            <a:off x="502920" y="960120"/>
            <a:ext cx="10789920" cy="868680"/>
          </a:xfrm>
          <a:prstGeom prst="rect">
            <a:avLst/>
          </a:prstGeom>
          <a:noFill/>
          <a:ln/>
        </p:spPr>
        <p:txBody>
          <a:bodyPr wrap="square" rtlCol="0" anchor="t"/>
          <a:lstStyle/>
          <a:p>
            <a:pPr marL="0" indent="0" algn="l">
              <a:buNone/>
            </a:pPr>
            <a:r>
              <a:rPr lang="en-US" sz="2800" b="1" dirty="0">
                <a:solidFill>
                  <a:srgbClr val="2B2B2B"/>
                </a:solidFill>
                <a:latin typeface="Calibri" pitchFamily="34" charset="0"/>
                <a:ea typeface="Calibri" pitchFamily="34" charset="-122"/>
                <a:cs typeface="Calibri" pitchFamily="34" charset="-120"/>
              </a:rPr>
              <a:t>Những câu hỏi nhóm chưa có câu trả lời</a:t>
            </a:r>
            <a:endParaRPr lang="en-US" sz="2800" dirty="0"/>
          </a:p>
        </p:txBody>
      </p:sp>
      <p:sp>
        <p:nvSpPr>
          <p:cNvPr id="5" name="Shape 3"/>
          <p:cNvSpPr/>
          <p:nvPr/>
        </p:nvSpPr>
        <p:spPr>
          <a:xfrm rot="-180000">
            <a:off x="640080" y="1965960"/>
            <a:ext cx="384048" cy="384048"/>
          </a:xfrm>
          <a:prstGeom prst="roundRect">
            <a:avLst>
              <a:gd name="adj" fmla="val 19048"/>
            </a:avLst>
          </a:prstGeom>
          <a:solidFill>
            <a:srgbClr val="FFE28A"/>
          </a:solidFill>
          <a:ln w="25400">
            <a:solidFill>
              <a:srgbClr val="2B2B2B"/>
            </a:solidFill>
            <a:prstDash val="solid"/>
          </a:ln>
        </p:spPr>
      </p:sp>
      <p:sp>
        <p:nvSpPr>
          <p:cNvPr id="6" name="Text 4"/>
          <p:cNvSpPr/>
          <p:nvPr/>
        </p:nvSpPr>
        <p:spPr>
          <a:xfrm rot="-180000">
            <a:off x="640080" y="1965960"/>
            <a:ext cx="384048" cy="384048"/>
          </a:xfrm>
          <a:prstGeom prst="rect">
            <a:avLst/>
          </a:prstGeom>
          <a:noFill/>
          <a:ln/>
        </p:spPr>
        <p:txBody>
          <a:bodyPr wrap="square" rtlCol="0" anchor="ctr"/>
          <a:lstStyle/>
          <a:p>
            <a:pPr marL="0" indent="0" algn="ctr">
              <a:buNone/>
            </a:pPr>
            <a:r>
              <a:rPr lang="en-US" sz="1600" b="1" dirty="0">
                <a:solidFill>
                  <a:srgbClr val="E14C36"/>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1234440" y="1911096"/>
            <a:ext cx="9966960" cy="502920"/>
          </a:xfrm>
          <a:prstGeom prst="rect">
            <a:avLst/>
          </a:prstGeom>
          <a:noFill/>
          <a:ln/>
        </p:spPr>
        <p:txBody>
          <a:bodyPr wrap="square" rtlCol="0" anchor="ctr"/>
          <a:lstStyle/>
          <a:p>
            <a:pPr marL="0" indent="0">
              <a:buNone/>
            </a:pPr>
            <a:r>
              <a:rPr lang="en-US" sz="1500" dirty="0">
                <a:solidFill>
                  <a:srgbClr val="2B2B2B"/>
                </a:solidFill>
                <a:latin typeface="Calibri" pitchFamily="34" charset="0"/>
                <a:ea typeface="Calibri" pitchFamily="34" charset="-122"/>
                <a:cs typeface="Calibri" pitchFamily="34" charset="-120"/>
              </a:rPr>
              <a:t>Chọn Option A thì thật ra phải đánh đổi điều gì</a:t>
            </a:r>
            <a:endParaRPr lang="en-US" sz="1500" dirty="0"/>
          </a:p>
        </p:txBody>
      </p:sp>
      <p:sp>
        <p:nvSpPr>
          <p:cNvPr id="8" name="Shape 6"/>
          <p:cNvSpPr/>
          <p:nvPr/>
        </p:nvSpPr>
        <p:spPr>
          <a:xfrm rot="-180000">
            <a:off x="640080" y="2624328"/>
            <a:ext cx="384048" cy="384048"/>
          </a:xfrm>
          <a:prstGeom prst="roundRect">
            <a:avLst>
              <a:gd name="adj" fmla="val 19048"/>
            </a:avLst>
          </a:prstGeom>
          <a:solidFill>
            <a:srgbClr val="FFE28A"/>
          </a:solidFill>
          <a:ln w="25400">
            <a:solidFill>
              <a:srgbClr val="2B2B2B"/>
            </a:solidFill>
            <a:prstDash val="solid"/>
          </a:ln>
        </p:spPr>
      </p:sp>
      <p:sp>
        <p:nvSpPr>
          <p:cNvPr id="9" name="Text 7"/>
          <p:cNvSpPr/>
          <p:nvPr/>
        </p:nvSpPr>
        <p:spPr>
          <a:xfrm rot="-180000">
            <a:off x="640080" y="2624328"/>
            <a:ext cx="384048" cy="384048"/>
          </a:xfrm>
          <a:prstGeom prst="rect">
            <a:avLst/>
          </a:prstGeom>
          <a:noFill/>
          <a:ln/>
        </p:spPr>
        <p:txBody>
          <a:bodyPr wrap="square" rtlCol="0" anchor="ctr"/>
          <a:lstStyle/>
          <a:p>
            <a:pPr marL="0" indent="0" algn="ctr">
              <a:buNone/>
            </a:pPr>
            <a:r>
              <a:rPr lang="en-US" sz="1600" b="1" dirty="0">
                <a:solidFill>
                  <a:srgbClr val="E14C36"/>
                </a:solidFill>
                <a:latin typeface="Calibri" pitchFamily="34" charset="0"/>
                <a:ea typeface="Calibri" pitchFamily="34" charset="-122"/>
                <a:cs typeface="Calibri" pitchFamily="34" charset="-120"/>
              </a:rPr>
              <a:t>?</a:t>
            </a:r>
            <a:endParaRPr lang="en-US" sz="1600" dirty="0"/>
          </a:p>
        </p:txBody>
      </p:sp>
      <p:sp>
        <p:nvSpPr>
          <p:cNvPr id="10" name="Text 8"/>
          <p:cNvSpPr/>
          <p:nvPr/>
        </p:nvSpPr>
        <p:spPr>
          <a:xfrm>
            <a:off x="1234440" y="2569464"/>
            <a:ext cx="9966960" cy="502920"/>
          </a:xfrm>
          <a:prstGeom prst="rect">
            <a:avLst/>
          </a:prstGeom>
          <a:noFill/>
          <a:ln/>
        </p:spPr>
        <p:txBody>
          <a:bodyPr wrap="square" rtlCol="0" anchor="ctr"/>
          <a:lstStyle/>
          <a:p>
            <a:pPr marL="0" indent="0">
              <a:buNone/>
            </a:pPr>
            <a:r>
              <a:rPr lang="en-US" sz="1500" dirty="0">
                <a:solidFill>
                  <a:srgbClr val="2B2B2B"/>
                </a:solidFill>
                <a:latin typeface="Calibri" pitchFamily="34" charset="0"/>
                <a:ea typeface="Calibri" pitchFamily="34" charset="-122"/>
                <a:cs typeface="Calibri" pitchFamily="34" charset="-120"/>
              </a:rPr>
              <a:t>Người học phản ứng ra sao khi gặp phần không có gì trong tài liệu để chứng minh</a:t>
            </a:r>
            <a:endParaRPr lang="en-US" sz="1500" dirty="0"/>
          </a:p>
        </p:txBody>
      </p:sp>
      <p:sp>
        <p:nvSpPr>
          <p:cNvPr id="11" name="Shape 9"/>
          <p:cNvSpPr/>
          <p:nvPr/>
        </p:nvSpPr>
        <p:spPr>
          <a:xfrm rot="-180000">
            <a:off x="640080" y="3282696"/>
            <a:ext cx="384048" cy="384048"/>
          </a:xfrm>
          <a:prstGeom prst="roundRect">
            <a:avLst>
              <a:gd name="adj" fmla="val 19048"/>
            </a:avLst>
          </a:prstGeom>
          <a:solidFill>
            <a:srgbClr val="FFE28A"/>
          </a:solidFill>
          <a:ln w="25400">
            <a:solidFill>
              <a:srgbClr val="2B2B2B"/>
            </a:solidFill>
            <a:prstDash val="solid"/>
          </a:ln>
        </p:spPr>
      </p:sp>
      <p:sp>
        <p:nvSpPr>
          <p:cNvPr id="12" name="Text 10"/>
          <p:cNvSpPr/>
          <p:nvPr/>
        </p:nvSpPr>
        <p:spPr>
          <a:xfrm rot="-180000">
            <a:off x="640080" y="3282696"/>
            <a:ext cx="384048" cy="384048"/>
          </a:xfrm>
          <a:prstGeom prst="rect">
            <a:avLst/>
          </a:prstGeom>
          <a:noFill/>
          <a:ln/>
        </p:spPr>
        <p:txBody>
          <a:bodyPr wrap="square" rtlCol="0" anchor="ctr"/>
          <a:lstStyle/>
          <a:p>
            <a:pPr marL="0" indent="0" algn="ctr">
              <a:buNone/>
            </a:pPr>
            <a:r>
              <a:rPr lang="en-US" sz="1600" b="1" dirty="0">
                <a:solidFill>
                  <a:srgbClr val="E14C36"/>
                </a:solidFill>
                <a:latin typeface="Calibri" pitchFamily="34" charset="0"/>
                <a:ea typeface="Calibri" pitchFamily="34" charset="-122"/>
                <a:cs typeface="Calibri" pitchFamily="34" charset="-120"/>
              </a:rPr>
              <a:t>?</a:t>
            </a:r>
            <a:endParaRPr lang="en-US" sz="1600" dirty="0"/>
          </a:p>
        </p:txBody>
      </p:sp>
      <p:sp>
        <p:nvSpPr>
          <p:cNvPr id="13" name="Text 11"/>
          <p:cNvSpPr/>
          <p:nvPr/>
        </p:nvSpPr>
        <p:spPr>
          <a:xfrm>
            <a:off x="1234440" y="3227832"/>
            <a:ext cx="9966960" cy="502920"/>
          </a:xfrm>
          <a:prstGeom prst="rect">
            <a:avLst/>
          </a:prstGeom>
          <a:noFill/>
          <a:ln/>
        </p:spPr>
        <p:txBody>
          <a:bodyPr wrap="square" rtlCol="0" anchor="ctr"/>
          <a:lstStyle/>
          <a:p>
            <a:pPr marL="0" indent="0">
              <a:buNone/>
            </a:pPr>
            <a:r>
              <a:rPr lang="en-US" sz="1500" dirty="0">
                <a:solidFill>
                  <a:srgbClr val="2B2B2B"/>
                </a:solidFill>
                <a:latin typeface="Calibri" pitchFamily="34" charset="0"/>
                <a:ea typeface="Calibri" pitchFamily="34" charset="-122"/>
                <a:cs typeface="Calibri" pitchFamily="34" charset="-120"/>
              </a:rPr>
              <a:t>Ý kiến thật về Option C — buổi test duy nhất tìm hiểu sâu về C lại mô tả sai cách nó hoạt động</a:t>
            </a:r>
            <a:endParaRPr lang="en-US" sz="1500" dirty="0"/>
          </a:p>
        </p:txBody>
      </p:sp>
      <p:sp>
        <p:nvSpPr>
          <p:cNvPr id="14" name="Shape 12"/>
          <p:cNvSpPr/>
          <p:nvPr/>
        </p:nvSpPr>
        <p:spPr>
          <a:xfrm rot="-180000">
            <a:off x="640080" y="3941064"/>
            <a:ext cx="384048" cy="384048"/>
          </a:xfrm>
          <a:prstGeom prst="roundRect">
            <a:avLst>
              <a:gd name="adj" fmla="val 19048"/>
            </a:avLst>
          </a:prstGeom>
          <a:solidFill>
            <a:srgbClr val="FFE28A"/>
          </a:solidFill>
          <a:ln w="25400">
            <a:solidFill>
              <a:srgbClr val="2B2B2B"/>
            </a:solidFill>
            <a:prstDash val="solid"/>
          </a:ln>
        </p:spPr>
      </p:sp>
      <p:sp>
        <p:nvSpPr>
          <p:cNvPr id="15" name="Text 13"/>
          <p:cNvSpPr/>
          <p:nvPr/>
        </p:nvSpPr>
        <p:spPr>
          <a:xfrm rot="-180000">
            <a:off x="640080" y="3941064"/>
            <a:ext cx="384048" cy="384048"/>
          </a:xfrm>
          <a:prstGeom prst="rect">
            <a:avLst/>
          </a:prstGeom>
          <a:noFill/>
          <a:ln/>
        </p:spPr>
        <p:txBody>
          <a:bodyPr wrap="square" rtlCol="0" anchor="ctr"/>
          <a:lstStyle/>
          <a:p>
            <a:pPr marL="0" indent="0" algn="ctr">
              <a:buNone/>
            </a:pPr>
            <a:r>
              <a:rPr lang="en-US" sz="1600" b="1" dirty="0">
                <a:solidFill>
                  <a:srgbClr val="E14C36"/>
                </a:solidFill>
                <a:latin typeface="Calibri" pitchFamily="34" charset="0"/>
                <a:ea typeface="Calibri" pitchFamily="34" charset="-122"/>
                <a:cs typeface="Calibri" pitchFamily="34" charset="-120"/>
              </a:rPr>
              <a:t>?</a:t>
            </a:r>
            <a:endParaRPr lang="en-US" sz="1600" dirty="0"/>
          </a:p>
        </p:txBody>
      </p:sp>
      <p:sp>
        <p:nvSpPr>
          <p:cNvPr id="16" name="Text 14"/>
          <p:cNvSpPr/>
          <p:nvPr/>
        </p:nvSpPr>
        <p:spPr>
          <a:xfrm>
            <a:off x="1234440" y="3886200"/>
            <a:ext cx="9966960" cy="502920"/>
          </a:xfrm>
          <a:prstGeom prst="rect">
            <a:avLst/>
          </a:prstGeom>
          <a:noFill/>
          <a:ln/>
        </p:spPr>
        <p:txBody>
          <a:bodyPr wrap="square" rtlCol="0" anchor="ctr"/>
          <a:lstStyle/>
          <a:p>
            <a:pPr marL="0" indent="0">
              <a:buNone/>
            </a:pPr>
            <a:r>
              <a:rPr lang="en-US" sz="1500" dirty="0">
                <a:solidFill>
                  <a:srgbClr val="2B2B2B"/>
                </a:solidFill>
                <a:latin typeface="Calibri" pitchFamily="34" charset="0"/>
                <a:ea typeface="Calibri" pitchFamily="34" charset="-122"/>
                <a:cs typeface="Calibri" pitchFamily="34" charset="-120"/>
              </a:rPr>
              <a:t>Liệu mọi người có vẫn chọn A khi câu hỏi hoàn toàn không có trong tài liệu khóa học</a:t>
            </a:r>
            <a:endParaRPr lang="en-US" sz="1500" dirty="0"/>
          </a:p>
        </p:txBody>
      </p:sp>
      <p:sp>
        <p:nvSpPr>
          <p:cNvPr id="17" name="Shape 15"/>
          <p:cNvSpPr/>
          <p:nvPr/>
        </p:nvSpPr>
        <p:spPr>
          <a:xfrm rot="-24000">
            <a:off x="640080" y="5029200"/>
            <a:ext cx="10515600" cy="1280160"/>
          </a:xfrm>
          <a:prstGeom prst="roundRect">
            <a:avLst>
              <a:gd name="adj" fmla="val 10714"/>
            </a:avLst>
          </a:prstGeom>
          <a:solidFill>
            <a:srgbClr val="3FA34D"/>
          </a:solidFill>
          <a:ln w="31750">
            <a:solidFill>
              <a:srgbClr val="2B2B2B"/>
            </a:solidFill>
            <a:prstDash val="solid"/>
          </a:ln>
          <a:effectLst>
            <a:outerShdw blurRad="101600" dist="63500" dir="2700000" algn="bl" rotWithShape="0">
              <a:srgbClr val="2B2B2B">
                <a:alpha val="85000"/>
              </a:srgbClr>
            </a:outerShdw>
          </a:effectLst>
        </p:spPr>
      </p:sp>
      <p:sp>
        <p:nvSpPr>
          <p:cNvPr id="18" name="Text 16"/>
          <p:cNvSpPr/>
          <p:nvPr/>
        </p:nvSpPr>
        <p:spPr>
          <a:xfrm rot="-24000">
            <a:off x="960120" y="5166360"/>
            <a:ext cx="9875520" cy="1051560"/>
          </a:xfrm>
          <a:prstGeom prst="rect">
            <a:avLst/>
          </a:prstGeom>
          <a:noFill/>
          <a:ln/>
        </p:spPr>
        <p:txBody>
          <a:bodyPr wrap="square" rtlCol="0" anchor="ctr"/>
          <a:lstStyle/>
          <a:p>
            <a:pPr marL="0" indent="0">
              <a:lnSpc>
                <a:spcPct val="115000"/>
              </a:lnSpc>
              <a:buNone/>
            </a:pPr>
            <a:r>
              <a:rPr lang="en-US" sz="1300" b="1" dirty="0">
                <a:solidFill>
                  <a:srgbClr val="FFFFFF"/>
                </a:solidFill>
                <a:latin typeface="Calibri" pitchFamily="34" charset="0"/>
                <a:ea typeface="Calibri" pitchFamily="34" charset="-122"/>
                <a:cs typeface="Calibri" pitchFamily="34" charset="-120"/>
              </a:rPr>
              <a:t>BƯỚC TIẾP THEO</a:t>
            </a:r>
            <a:endParaRPr lang="en-US" sz="1300" dirty="0"/>
          </a:p>
          <a:p>
            <a:pPr marL="0" indent="0">
              <a:lnSpc>
                <a:spcPct val="115000"/>
              </a:lnSpc>
              <a:buNone/>
            </a:pPr>
            <a:r>
              <a:rPr lang="en-US" sz="1350" dirty="0">
                <a:solidFill>
                  <a:srgbClr val="FFFFFF"/>
                </a:solidFill>
                <a:latin typeface="Calibri" pitchFamily="34" charset="0"/>
                <a:ea typeface="Calibri" pitchFamily="34" charset="-122"/>
                <a:cs typeface="Calibri" pitchFamily="34" charset="-120"/>
              </a:rPr>
              <a:t>Sửa lại phần mô tả Option C cho đúng như thiết kế ban đầu, rồi làm thêm một buổi test đúng quy trình đã đặt ra, và luôn hỏi cho ra được người học phải đánh đổi điều gì khi chọn.</a:t>
            </a:r>
            <a:endParaRPr lang="en-US" sz="1300" dirty="0"/>
          </a:p>
        </p:txBody>
      </p:sp>
      <p:sp>
        <p:nvSpPr>
          <p:cNvPr id="19" name="Shape 17"/>
          <p:cNvSpPr/>
          <p:nvPr/>
        </p:nvSpPr>
        <p:spPr>
          <a:xfrm>
            <a:off x="11475720" y="6263640"/>
            <a:ext cx="457200" cy="457200"/>
          </a:xfrm>
          <a:prstGeom prst="ellipse">
            <a:avLst/>
          </a:prstGeom>
          <a:solidFill>
            <a:srgbClr val="FFFFFF"/>
          </a:solidFill>
          <a:ln w="28575">
            <a:solidFill>
              <a:srgbClr val="2B2B2B"/>
            </a:solidFill>
            <a:prstDash val="solid"/>
          </a:ln>
        </p:spPr>
      </p:sp>
      <p:sp>
        <p:nvSpPr>
          <p:cNvPr id="20" name="Text 18"/>
          <p:cNvSpPr/>
          <p:nvPr/>
        </p:nvSpPr>
        <p:spPr>
          <a:xfrm>
            <a:off x="11475720" y="6263640"/>
            <a:ext cx="457200" cy="457200"/>
          </a:xfrm>
          <a:prstGeom prst="rect">
            <a:avLst/>
          </a:prstGeom>
          <a:noFill/>
          <a:ln/>
        </p:spPr>
        <p:txBody>
          <a:bodyPr wrap="square"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11</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600000">
            <a:off x="822960" y="365760"/>
            <a:ext cx="1188720" cy="365760"/>
          </a:xfrm>
          <a:prstGeom prst="rect">
            <a:avLst/>
          </a:prstGeom>
          <a:solidFill>
            <a:srgbClr val="FFE28A">
              <a:alpha val="70000"/>
            </a:srgbClr>
          </a:solidFill>
          <a:ln/>
        </p:spPr>
      </p:sp>
      <p:sp>
        <p:nvSpPr>
          <p:cNvPr id="3" name="Shape 1"/>
          <p:cNvSpPr/>
          <p:nvPr/>
        </p:nvSpPr>
        <p:spPr>
          <a:xfrm rot="480000">
            <a:off x="10149840" y="457200"/>
            <a:ext cx="1188720" cy="365760"/>
          </a:xfrm>
          <a:prstGeom prst="rect">
            <a:avLst/>
          </a:prstGeom>
          <a:solidFill>
            <a:srgbClr val="2AA39D">
              <a:alpha val="70000"/>
            </a:srgbClr>
          </a:solidFill>
          <a:ln/>
        </p:spPr>
      </p:sp>
      <p:sp>
        <p:nvSpPr>
          <p:cNvPr id="4" name="Shape 2"/>
          <p:cNvSpPr/>
          <p:nvPr/>
        </p:nvSpPr>
        <p:spPr>
          <a:xfrm rot="420000">
            <a:off x="914400" y="6126480"/>
            <a:ext cx="1188720" cy="365760"/>
          </a:xfrm>
          <a:prstGeom prst="rect">
            <a:avLst/>
          </a:prstGeom>
          <a:solidFill>
            <a:srgbClr val="5B9BD5">
              <a:alpha val="70000"/>
            </a:srgbClr>
          </a:solidFill>
          <a:ln/>
        </p:spPr>
      </p:sp>
      <p:sp>
        <p:nvSpPr>
          <p:cNvPr id="5" name="Shape 3"/>
          <p:cNvSpPr/>
          <p:nvPr/>
        </p:nvSpPr>
        <p:spPr>
          <a:xfrm rot="-540000">
            <a:off x="9966960" y="6172200"/>
            <a:ext cx="1188720" cy="365760"/>
          </a:xfrm>
          <a:prstGeom prst="rect">
            <a:avLst/>
          </a:prstGeom>
          <a:solidFill>
            <a:srgbClr val="B9789E">
              <a:alpha val="70000"/>
            </a:srgbClr>
          </a:solidFill>
          <a:ln/>
        </p:spPr>
      </p:sp>
      <p:sp>
        <p:nvSpPr>
          <p:cNvPr id="6" name="Shape 4"/>
          <p:cNvSpPr/>
          <p:nvPr/>
        </p:nvSpPr>
        <p:spPr>
          <a:xfrm rot="60000">
            <a:off x="1828800" y="2148840"/>
            <a:ext cx="8503920" cy="1874520"/>
          </a:xfrm>
          <a:prstGeom prst="roundRect">
            <a:avLst>
              <a:gd name="adj" fmla="val 8780"/>
            </a:avLst>
          </a:prstGeom>
          <a:solidFill>
            <a:srgbClr val="FF6B54"/>
          </a:solidFill>
          <a:ln w="38100">
            <a:solidFill>
              <a:srgbClr val="2B2B2B"/>
            </a:solidFill>
            <a:prstDash val="solid"/>
          </a:ln>
          <a:effectLst>
            <a:outerShdw blurRad="101600" dist="88900" dir="2700000" algn="bl" rotWithShape="0">
              <a:srgbClr val="2B2B2B">
                <a:alpha val="85000"/>
              </a:srgbClr>
            </a:outerShdw>
          </a:effectLst>
        </p:spPr>
      </p:sp>
      <p:sp>
        <p:nvSpPr>
          <p:cNvPr id="7" name="Text 5"/>
          <p:cNvSpPr/>
          <p:nvPr/>
        </p:nvSpPr>
        <p:spPr>
          <a:xfrm rot="60000">
            <a:off x="1828800" y="2148840"/>
            <a:ext cx="8503920" cy="1874520"/>
          </a:xfrm>
          <a:prstGeom prst="rect">
            <a:avLst/>
          </a:prstGeom>
          <a:noFill/>
          <a:ln/>
        </p:spPr>
        <p:txBody>
          <a:bodyPr wrap="square" rtlCol="0" anchor="ctr"/>
          <a:lstStyle/>
          <a:p>
            <a:pPr marL="0" indent="0" algn="ctr">
              <a:buNone/>
            </a:pPr>
            <a:r>
              <a:rPr lang="en-US" sz="6000" b="1" dirty="0">
                <a:solidFill>
                  <a:srgbClr val="FFFFFF"/>
                </a:solidFill>
                <a:latin typeface="Calibri" pitchFamily="34" charset="0"/>
                <a:ea typeface="Calibri" pitchFamily="34" charset="-122"/>
                <a:cs typeface="Calibri" pitchFamily="34" charset="-120"/>
              </a:rPr>
              <a:t>Cảm ơn!</a:t>
            </a:r>
            <a:endParaRPr lang="en-US" sz="6000" dirty="0"/>
          </a:p>
        </p:txBody>
      </p:sp>
      <p:sp>
        <p:nvSpPr>
          <p:cNvPr id="8" name="Text 6"/>
          <p:cNvSpPr/>
          <p:nvPr/>
        </p:nvSpPr>
        <p:spPr>
          <a:xfrm>
            <a:off x="1371600" y="4343400"/>
            <a:ext cx="9418320" cy="548640"/>
          </a:xfrm>
          <a:prstGeom prst="rect">
            <a:avLst/>
          </a:prstGeom>
          <a:noFill/>
          <a:ln/>
        </p:spPr>
        <p:txBody>
          <a:bodyPr wrap="square" rtlCol="0" anchor="ctr"/>
          <a:lstStyle/>
          <a:p>
            <a:pPr marL="0" indent="0" algn="ctr">
              <a:buNone/>
            </a:pPr>
            <a:r>
              <a:rPr lang="en-US" sz="1600" b="1" i="1" dirty="0">
                <a:solidFill>
                  <a:srgbClr val="2B2B2B"/>
                </a:solidFill>
                <a:latin typeface="Calibri" pitchFamily="34" charset="0"/>
                <a:ea typeface="Calibri" pitchFamily="34" charset="-122"/>
                <a:cs typeface="Calibri" pitchFamily="34" charset="-120"/>
              </a:rPr>
              <a:t>VLearn — giúp người học tin vào câu trả lời của chính mình</a:t>
            </a:r>
            <a:endParaRPr lang="en-US" sz="1600" dirty="0"/>
          </a:p>
        </p:txBody>
      </p:sp>
      <p:sp>
        <p:nvSpPr>
          <p:cNvPr id="9" name="Text 7"/>
          <p:cNvSpPr/>
          <p:nvPr/>
        </p:nvSpPr>
        <p:spPr>
          <a:xfrm>
            <a:off x="1371600" y="5074920"/>
            <a:ext cx="9418320" cy="457200"/>
          </a:xfrm>
          <a:prstGeom prst="rect">
            <a:avLst/>
          </a:prstGeom>
          <a:noFill/>
          <a:ln/>
        </p:spPr>
        <p:txBody>
          <a:bodyPr wrap="square" rtlCol="0" anchor="ctr"/>
          <a:lstStyle/>
          <a:p>
            <a:pPr marL="0" indent="0" algn="ctr">
              <a:buNone/>
            </a:pPr>
            <a:r>
              <a:rPr lang="en-US" sz="1350" dirty="0">
                <a:solidFill>
                  <a:srgbClr val="8A8A8A"/>
                </a:solidFill>
                <a:latin typeface="Calibri" pitchFamily="34" charset="0"/>
                <a:ea typeface="Calibri" pitchFamily="34" charset="-122"/>
                <a:cs typeface="Calibri" pitchFamily="34" charset="-120"/>
              </a:rPr>
              <a:t>Nhóm 333  ·  Nguyễn Hoàng Minh  ·  Nguyễn Việt Hải  ·  Trịnh Hải Đăng</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1719</Words>
  <Application>Microsoft Macintosh PowerPoint</Application>
  <PresentationFormat>Widescreen</PresentationFormat>
  <Paragraphs>158</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NGUYEN HOANG MINH (S.AI.20K)</cp:lastModifiedBy>
  <cp:revision>2</cp:revision>
  <dcterms:created xsi:type="dcterms:W3CDTF">2026-08-19T04:15:50Z</dcterms:created>
  <dcterms:modified xsi:type="dcterms:W3CDTF">2026-08-19T04:28:49Z</dcterms:modified>
</cp:coreProperties>
</file>